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2192000" cy="7620000"/>
  <p:notesSz cx="6858000" cy="9144000"/>
  <p:embeddedFontLst>
    <p:embeddedFont>
      <p:font typeface="Baskerville Display PT" charset="1" panose="02030602080406020203"/>
      <p:regular r:id="rId14"/>
    </p:embeddedFont>
    <p:embeddedFont>
      <p:font typeface="Baskerville Display PT Bold" charset="1" panose="02030702080406020203"/>
      <p:regular r:id="rId15"/>
    </p:embeddedFont>
    <p:embeddedFont>
      <p:font typeface="Times New Roman" charset="1" panose="02030502070405020303"/>
      <p:regular r:id="rId16"/>
    </p:embeddedFont>
    <p:embeddedFont>
      <p:font typeface="Canva Sans" charset="1" panose="020B0503030501040103"/>
      <p:regular r:id="rId17"/>
    </p:embeddedFont>
    <p:embeddedFont>
      <p:font typeface="Garet" charset="1" panose="00000000000000000000"/>
      <p:regular r:id="rId18"/>
    </p:embeddedFont>
    <p:embeddedFont>
      <p:font typeface="Garet Bold" charset="1" panose="00000000000000000000"/>
      <p:regular r:id="rId19"/>
    </p:embeddedFont>
    <p:embeddedFont>
      <p:font typeface="Garet Light" charset="1" panose="00000000000000000000"/>
      <p:regular r:id="rId20"/>
    </p:embeddedFont>
    <p:embeddedFont>
      <p:font typeface="Canva Sans Bold" charset="1" panose="020B08030305010401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jpeg" Type="http://schemas.openxmlformats.org/officeDocument/2006/relationships/image"/><Relationship Id="rId11" Target="../media/image22.png" Type="http://schemas.openxmlformats.org/officeDocument/2006/relationships/image"/><Relationship Id="rId12" Target="../media/image23.jpe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7.jpeg" Type="http://schemas.openxmlformats.org/officeDocument/2006/relationships/image"/><Relationship Id="rId7" Target="../media/image18.jpeg" Type="http://schemas.openxmlformats.org/officeDocument/2006/relationships/image"/><Relationship Id="rId8" Target="../media/image19.png" Type="http://schemas.openxmlformats.org/officeDocument/2006/relationships/image"/><Relationship Id="rId9" Target="../media/image20.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24.jpeg" Type="http://schemas.openxmlformats.org/officeDocument/2006/relationships/image"/><Relationship Id="rId5" Target="../media/image25.jpeg" Type="http://schemas.openxmlformats.org/officeDocument/2006/relationships/image"/><Relationship Id="rId6" Target="../media/image26.jpeg" Type="http://schemas.openxmlformats.org/officeDocument/2006/relationships/image"/><Relationship Id="rId7" Target="../media/image2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2" Target="../media/image28.pn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3895583" y="1076161"/>
            <a:ext cx="7813098" cy="6543839"/>
          </a:xfrm>
          <a:custGeom>
            <a:avLst/>
            <a:gdLst/>
            <a:ahLst/>
            <a:cxnLst/>
            <a:rect r="r" b="b" t="t" l="l"/>
            <a:pathLst>
              <a:path h="6543839" w="7813098">
                <a:moveTo>
                  <a:pt x="0" y="0"/>
                </a:moveTo>
                <a:lnTo>
                  <a:pt x="7813098" y="0"/>
                </a:lnTo>
                <a:lnTo>
                  <a:pt x="7813098" y="6543839"/>
                </a:lnTo>
                <a:lnTo>
                  <a:pt x="0" y="65438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778721" y="1652787"/>
            <a:ext cx="5322535" cy="1483038"/>
            <a:chOff x="0" y="0"/>
            <a:chExt cx="7096713" cy="1977384"/>
          </a:xfrm>
        </p:grpSpPr>
        <p:sp>
          <p:nvSpPr>
            <p:cNvPr name="Freeform 4" id="4"/>
            <p:cNvSpPr/>
            <p:nvPr/>
          </p:nvSpPr>
          <p:spPr>
            <a:xfrm flipH="false" flipV="false" rot="0">
              <a:off x="0" y="0"/>
              <a:ext cx="7096713" cy="1977384"/>
            </a:xfrm>
            <a:custGeom>
              <a:avLst/>
              <a:gdLst/>
              <a:ahLst/>
              <a:cxnLst/>
              <a:rect r="r" b="b" t="t" l="l"/>
              <a:pathLst>
                <a:path h="1977384" w="7096713">
                  <a:moveTo>
                    <a:pt x="0" y="0"/>
                  </a:moveTo>
                  <a:lnTo>
                    <a:pt x="7096713" y="0"/>
                  </a:lnTo>
                  <a:lnTo>
                    <a:pt x="7096713" y="1977384"/>
                  </a:lnTo>
                  <a:lnTo>
                    <a:pt x="0" y="1977384"/>
                  </a:lnTo>
                  <a:close/>
                </a:path>
              </a:pathLst>
            </a:custGeom>
            <a:solidFill>
              <a:srgbClr val="000000">
                <a:alpha val="0"/>
              </a:srgbClr>
            </a:solidFill>
          </p:spPr>
        </p:sp>
        <p:sp>
          <p:nvSpPr>
            <p:cNvPr name="TextBox 5" id="5"/>
            <p:cNvSpPr txBox="true"/>
            <p:nvPr/>
          </p:nvSpPr>
          <p:spPr>
            <a:xfrm>
              <a:off x="0" y="-85725"/>
              <a:ext cx="7096713" cy="2063109"/>
            </a:xfrm>
            <a:prstGeom prst="rect">
              <a:avLst/>
            </a:prstGeom>
          </p:spPr>
          <p:txBody>
            <a:bodyPr anchor="t" rtlCol="false" tIns="0" lIns="0" bIns="0" rIns="0"/>
            <a:lstStyle/>
            <a:p>
              <a:pPr algn="ctr">
                <a:lnSpc>
                  <a:spcPts val="5932"/>
                </a:lnSpc>
              </a:pPr>
              <a:r>
                <a:rPr lang="en-US" sz="4236" spc="326">
                  <a:solidFill>
                    <a:srgbClr val="FFFFFF"/>
                  </a:solidFill>
                  <a:latin typeface="Baskerville Display PT"/>
                  <a:ea typeface="Baskerville Display PT"/>
                  <a:cs typeface="Baskerville Display PT"/>
                  <a:sym typeface="Baskerville Display PT"/>
                </a:rPr>
                <a:t>JOYFUL ROSE DELIGHTS</a:t>
              </a:r>
            </a:p>
          </p:txBody>
        </p:sp>
      </p:grpSp>
      <p:sp>
        <p:nvSpPr>
          <p:cNvPr name="Freeform 6" id="6"/>
          <p:cNvSpPr/>
          <p:nvPr/>
        </p:nvSpPr>
        <p:spPr>
          <a:xfrm flipH="false" flipV="false" rot="0">
            <a:off x="0" y="1156528"/>
            <a:ext cx="6096000" cy="6463472"/>
          </a:xfrm>
          <a:custGeom>
            <a:avLst/>
            <a:gdLst/>
            <a:ahLst/>
            <a:cxnLst/>
            <a:rect r="r" b="b" t="t" l="l"/>
            <a:pathLst>
              <a:path h="6463472" w="6096000">
                <a:moveTo>
                  <a:pt x="0" y="0"/>
                </a:moveTo>
                <a:lnTo>
                  <a:pt x="6096000" y="0"/>
                </a:lnTo>
                <a:lnTo>
                  <a:pt x="6096000" y="6463472"/>
                </a:lnTo>
                <a:lnTo>
                  <a:pt x="0" y="6463472"/>
                </a:lnTo>
                <a:lnTo>
                  <a:pt x="0" y="0"/>
                </a:lnTo>
                <a:close/>
              </a:path>
            </a:pathLst>
          </a:custGeom>
          <a:blipFill>
            <a:blip r:embed="rId4">
              <a:alphaModFix amt="92000"/>
            </a:blip>
            <a:stretch>
              <a:fillRect l="-3013" t="0" r="-3014" b="0"/>
            </a:stretch>
          </a:blipFill>
        </p:spPr>
      </p:sp>
      <p:sp>
        <p:nvSpPr>
          <p:cNvPr name="Freeform 7" id="7"/>
          <p:cNvSpPr/>
          <p:nvPr/>
        </p:nvSpPr>
        <p:spPr>
          <a:xfrm flipH="false" flipV="false" rot="0">
            <a:off x="6272255" y="4682199"/>
            <a:ext cx="4876800" cy="673885"/>
          </a:xfrm>
          <a:custGeom>
            <a:avLst/>
            <a:gdLst/>
            <a:ahLst/>
            <a:cxnLst/>
            <a:rect r="r" b="b" t="t" l="l"/>
            <a:pathLst>
              <a:path h="673885" w="4876800">
                <a:moveTo>
                  <a:pt x="0" y="0"/>
                </a:moveTo>
                <a:lnTo>
                  <a:pt x="4876800" y="0"/>
                </a:lnTo>
                <a:lnTo>
                  <a:pt x="4876800" y="673885"/>
                </a:lnTo>
                <a:lnTo>
                  <a:pt x="0" y="673885"/>
                </a:lnTo>
                <a:lnTo>
                  <a:pt x="0" y="0"/>
                </a:lnTo>
                <a:close/>
              </a:path>
            </a:pathLst>
          </a:custGeom>
          <a:blipFill>
            <a:blip r:embed="rId5">
              <a:extLst>
                <a:ext uri="{96DAC541-7B7A-43D3-8B79-37D633B846F1}">
                  <asvg:svgBlip xmlns:asvg="http://schemas.microsoft.com/office/drawing/2016/SVG/main" r:embed="rId6"/>
                </a:ext>
              </a:extLst>
            </a:blip>
            <a:stretch>
              <a:fillRect l="0" t="-79" r="0" b="-79"/>
            </a:stretch>
          </a:blipFill>
        </p:spPr>
      </p:sp>
      <p:grpSp>
        <p:nvGrpSpPr>
          <p:cNvPr name="Group 8" id="8"/>
          <p:cNvGrpSpPr/>
          <p:nvPr/>
        </p:nvGrpSpPr>
        <p:grpSpPr>
          <a:xfrm rot="0">
            <a:off x="762000" y="431800"/>
            <a:ext cx="1044528" cy="257175"/>
            <a:chOff x="0" y="0"/>
            <a:chExt cx="1392704" cy="342900"/>
          </a:xfrm>
        </p:grpSpPr>
        <p:sp>
          <p:nvSpPr>
            <p:cNvPr name="Freeform 9" id="9"/>
            <p:cNvSpPr/>
            <p:nvPr/>
          </p:nvSpPr>
          <p:spPr>
            <a:xfrm flipH="false" flipV="false" rot="0">
              <a:off x="0" y="0"/>
              <a:ext cx="1392704" cy="342900"/>
            </a:xfrm>
            <a:custGeom>
              <a:avLst/>
              <a:gdLst/>
              <a:ahLst/>
              <a:cxnLst/>
              <a:rect r="r" b="b" t="t" l="l"/>
              <a:pathLst>
                <a:path h="342900" w="1392704">
                  <a:moveTo>
                    <a:pt x="0" y="0"/>
                  </a:moveTo>
                  <a:lnTo>
                    <a:pt x="1392704" y="0"/>
                  </a:lnTo>
                  <a:lnTo>
                    <a:pt x="1392704" y="342900"/>
                  </a:lnTo>
                  <a:lnTo>
                    <a:pt x="0" y="342900"/>
                  </a:lnTo>
                  <a:close/>
                </a:path>
              </a:pathLst>
            </a:custGeom>
            <a:solidFill>
              <a:srgbClr val="000000">
                <a:alpha val="0"/>
              </a:srgbClr>
            </a:solidFill>
          </p:spPr>
        </p:sp>
        <p:sp>
          <p:nvSpPr>
            <p:cNvPr name="TextBox 10" id="10"/>
            <p:cNvSpPr txBox="true"/>
            <p:nvPr/>
          </p:nvSpPr>
          <p:spPr>
            <a:xfrm>
              <a:off x="0" y="-28575"/>
              <a:ext cx="1392704" cy="371475"/>
            </a:xfrm>
            <a:prstGeom prst="rect">
              <a:avLst/>
            </a:prstGeom>
          </p:spPr>
          <p:txBody>
            <a:bodyPr anchor="t" rtlCol="false" tIns="0" lIns="0" bIns="0" rIns="0"/>
            <a:lstStyle/>
            <a:p>
              <a:pPr algn="ctr">
                <a:lnSpc>
                  <a:spcPts val="2100"/>
                </a:lnSpc>
              </a:pPr>
              <a:r>
                <a:rPr lang="en-US" sz="1500">
                  <a:solidFill>
                    <a:srgbClr val="5B5247"/>
                  </a:solidFill>
                  <a:latin typeface="Baskerville Display PT"/>
                  <a:ea typeface="Baskerville Display PT"/>
                  <a:cs typeface="Baskerville Display PT"/>
                  <a:sym typeface="Baskerville Display PT"/>
                </a:rPr>
                <a:t>HOME</a:t>
              </a:r>
            </a:p>
          </p:txBody>
        </p:sp>
      </p:grpSp>
      <p:grpSp>
        <p:nvGrpSpPr>
          <p:cNvPr name="Group 11" id="11"/>
          <p:cNvGrpSpPr/>
          <p:nvPr/>
        </p:nvGrpSpPr>
        <p:grpSpPr>
          <a:xfrm rot="0">
            <a:off x="1806528" y="431800"/>
            <a:ext cx="1044528" cy="257175"/>
            <a:chOff x="0" y="0"/>
            <a:chExt cx="1392704" cy="342900"/>
          </a:xfrm>
        </p:grpSpPr>
        <p:sp>
          <p:nvSpPr>
            <p:cNvPr name="Freeform 12" id="12"/>
            <p:cNvSpPr/>
            <p:nvPr/>
          </p:nvSpPr>
          <p:spPr>
            <a:xfrm flipH="false" flipV="false" rot="0">
              <a:off x="0" y="0"/>
              <a:ext cx="1392704" cy="342900"/>
            </a:xfrm>
            <a:custGeom>
              <a:avLst/>
              <a:gdLst/>
              <a:ahLst/>
              <a:cxnLst/>
              <a:rect r="r" b="b" t="t" l="l"/>
              <a:pathLst>
                <a:path h="342900" w="1392704">
                  <a:moveTo>
                    <a:pt x="0" y="0"/>
                  </a:moveTo>
                  <a:lnTo>
                    <a:pt x="1392704" y="0"/>
                  </a:lnTo>
                  <a:lnTo>
                    <a:pt x="1392704" y="342900"/>
                  </a:lnTo>
                  <a:lnTo>
                    <a:pt x="0" y="342900"/>
                  </a:lnTo>
                  <a:close/>
                </a:path>
              </a:pathLst>
            </a:custGeom>
            <a:solidFill>
              <a:srgbClr val="000000">
                <a:alpha val="0"/>
              </a:srgbClr>
            </a:solidFill>
          </p:spPr>
        </p:sp>
        <p:sp>
          <p:nvSpPr>
            <p:cNvPr name="TextBox 13" id="13"/>
            <p:cNvSpPr txBox="true"/>
            <p:nvPr/>
          </p:nvSpPr>
          <p:spPr>
            <a:xfrm>
              <a:off x="0" y="-28575"/>
              <a:ext cx="1392704" cy="371475"/>
            </a:xfrm>
            <a:prstGeom prst="rect">
              <a:avLst/>
            </a:prstGeom>
          </p:spPr>
          <p:txBody>
            <a:bodyPr anchor="t" rtlCol="false" tIns="0" lIns="0" bIns="0" rIns="0"/>
            <a:lstStyle/>
            <a:p>
              <a:pPr algn="ctr">
                <a:lnSpc>
                  <a:spcPts val="2100"/>
                </a:lnSpc>
              </a:pPr>
              <a:r>
                <a:rPr lang="en-US" sz="1500">
                  <a:solidFill>
                    <a:srgbClr val="5B5247"/>
                  </a:solidFill>
                  <a:latin typeface="Baskerville Display PT"/>
                  <a:ea typeface="Baskerville Display PT"/>
                  <a:cs typeface="Baskerville Display PT"/>
                  <a:sym typeface="Baskerville Display PT"/>
                </a:rPr>
                <a:t>ABOUT</a:t>
              </a:r>
            </a:p>
          </p:txBody>
        </p:sp>
      </p:grpSp>
      <p:grpSp>
        <p:nvGrpSpPr>
          <p:cNvPr name="Group 14" id="14"/>
          <p:cNvGrpSpPr/>
          <p:nvPr/>
        </p:nvGrpSpPr>
        <p:grpSpPr>
          <a:xfrm rot="0">
            <a:off x="2851055" y="431800"/>
            <a:ext cx="1044528" cy="257175"/>
            <a:chOff x="0" y="0"/>
            <a:chExt cx="1392704" cy="342900"/>
          </a:xfrm>
        </p:grpSpPr>
        <p:sp>
          <p:nvSpPr>
            <p:cNvPr name="Freeform 15" id="15"/>
            <p:cNvSpPr/>
            <p:nvPr/>
          </p:nvSpPr>
          <p:spPr>
            <a:xfrm flipH="false" flipV="false" rot="0">
              <a:off x="0" y="0"/>
              <a:ext cx="1392704" cy="342900"/>
            </a:xfrm>
            <a:custGeom>
              <a:avLst/>
              <a:gdLst/>
              <a:ahLst/>
              <a:cxnLst/>
              <a:rect r="r" b="b" t="t" l="l"/>
              <a:pathLst>
                <a:path h="342900" w="1392704">
                  <a:moveTo>
                    <a:pt x="0" y="0"/>
                  </a:moveTo>
                  <a:lnTo>
                    <a:pt x="1392704" y="0"/>
                  </a:lnTo>
                  <a:lnTo>
                    <a:pt x="1392704" y="342900"/>
                  </a:lnTo>
                  <a:lnTo>
                    <a:pt x="0" y="342900"/>
                  </a:lnTo>
                  <a:close/>
                </a:path>
              </a:pathLst>
            </a:custGeom>
            <a:solidFill>
              <a:srgbClr val="000000">
                <a:alpha val="0"/>
              </a:srgbClr>
            </a:solidFill>
          </p:spPr>
        </p:sp>
        <p:sp>
          <p:nvSpPr>
            <p:cNvPr name="TextBox 16" id="16"/>
            <p:cNvSpPr txBox="true"/>
            <p:nvPr/>
          </p:nvSpPr>
          <p:spPr>
            <a:xfrm>
              <a:off x="0" y="-28575"/>
              <a:ext cx="1392704" cy="371475"/>
            </a:xfrm>
            <a:prstGeom prst="rect">
              <a:avLst/>
            </a:prstGeom>
          </p:spPr>
          <p:txBody>
            <a:bodyPr anchor="t" rtlCol="false" tIns="0" lIns="0" bIns="0" rIns="0"/>
            <a:lstStyle/>
            <a:p>
              <a:pPr algn="ctr">
                <a:lnSpc>
                  <a:spcPts val="2100"/>
                </a:lnSpc>
              </a:pPr>
              <a:r>
                <a:rPr lang="en-US" sz="1500">
                  <a:solidFill>
                    <a:srgbClr val="5B5247"/>
                  </a:solidFill>
                  <a:latin typeface="Baskerville Display PT"/>
                  <a:ea typeface="Baskerville Display PT"/>
                  <a:cs typeface="Baskerville Display PT"/>
                  <a:sym typeface="Baskerville Display PT"/>
                </a:rPr>
                <a:t>BLOG</a:t>
              </a:r>
            </a:p>
          </p:txBody>
        </p:sp>
      </p:grpSp>
      <p:grpSp>
        <p:nvGrpSpPr>
          <p:cNvPr name="Group 17" id="17"/>
          <p:cNvGrpSpPr/>
          <p:nvPr/>
        </p:nvGrpSpPr>
        <p:grpSpPr>
          <a:xfrm rot="0">
            <a:off x="6618264" y="450850"/>
            <a:ext cx="1044528" cy="257175"/>
            <a:chOff x="0" y="0"/>
            <a:chExt cx="1392704" cy="342900"/>
          </a:xfrm>
        </p:grpSpPr>
        <p:sp>
          <p:nvSpPr>
            <p:cNvPr name="Freeform 18" id="18"/>
            <p:cNvSpPr/>
            <p:nvPr/>
          </p:nvSpPr>
          <p:spPr>
            <a:xfrm flipH="false" flipV="false" rot="0">
              <a:off x="0" y="0"/>
              <a:ext cx="1392704" cy="342900"/>
            </a:xfrm>
            <a:custGeom>
              <a:avLst/>
              <a:gdLst/>
              <a:ahLst/>
              <a:cxnLst/>
              <a:rect r="r" b="b" t="t" l="l"/>
              <a:pathLst>
                <a:path h="342900" w="1392704">
                  <a:moveTo>
                    <a:pt x="0" y="0"/>
                  </a:moveTo>
                  <a:lnTo>
                    <a:pt x="1392704" y="0"/>
                  </a:lnTo>
                  <a:lnTo>
                    <a:pt x="1392704" y="342900"/>
                  </a:lnTo>
                  <a:lnTo>
                    <a:pt x="0" y="342900"/>
                  </a:lnTo>
                  <a:close/>
                </a:path>
              </a:pathLst>
            </a:custGeom>
            <a:solidFill>
              <a:srgbClr val="000000">
                <a:alpha val="0"/>
              </a:srgbClr>
            </a:solidFill>
          </p:spPr>
        </p:sp>
        <p:sp>
          <p:nvSpPr>
            <p:cNvPr name="TextBox 19" id="19"/>
            <p:cNvSpPr txBox="true"/>
            <p:nvPr/>
          </p:nvSpPr>
          <p:spPr>
            <a:xfrm>
              <a:off x="0" y="-28575"/>
              <a:ext cx="1392704" cy="371475"/>
            </a:xfrm>
            <a:prstGeom prst="rect">
              <a:avLst/>
            </a:prstGeom>
          </p:spPr>
          <p:txBody>
            <a:bodyPr anchor="t" rtlCol="false" tIns="0" lIns="0" bIns="0" rIns="0"/>
            <a:lstStyle/>
            <a:p>
              <a:pPr algn="ctr">
                <a:lnSpc>
                  <a:spcPts val="2100"/>
                </a:lnSpc>
              </a:pPr>
              <a:r>
                <a:rPr lang="en-US" sz="1500">
                  <a:solidFill>
                    <a:srgbClr val="5B5247"/>
                  </a:solidFill>
                  <a:latin typeface="Baskerville Display PT"/>
                  <a:ea typeface="Baskerville Display PT"/>
                  <a:cs typeface="Baskerville Display PT"/>
                  <a:sym typeface="Baskerville Display PT"/>
                </a:rPr>
                <a:t>PRODUCTS</a:t>
              </a:r>
            </a:p>
          </p:txBody>
        </p:sp>
      </p:grpSp>
      <p:grpSp>
        <p:nvGrpSpPr>
          <p:cNvPr name="Group 20" id="20"/>
          <p:cNvGrpSpPr/>
          <p:nvPr/>
        </p:nvGrpSpPr>
        <p:grpSpPr>
          <a:xfrm rot="0">
            <a:off x="8186666" y="431800"/>
            <a:ext cx="1044528" cy="257175"/>
            <a:chOff x="0" y="0"/>
            <a:chExt cx="1392704" cy="342900"/>
          </a:xfrm>
        </p:grpSpPr>
        <p:sp>
          <p:nvSpPr>
            <p:cNvPr name="Freeform 21" id="21"/>
            <p:cNvSpPr/>
            <p:nvPr/>
          </p:nvSpPr>
          <p:spPr>
            <a:xfrm flipH="false" flipV="false" rot="0">
              <a:off x="0" y="0"/>
              <a:ext cx="1392704" cy="342900"/>
            </a:xfrm>
            <a:custGeom>
              <a:avLst/>
              <a:gdLst/>
              <a:ahLst/>
              <a:cxnLst/>
              <a:rect r="r" b="b" t="t" l="l"/>
              <a:pathLst>
                <a:path h="342900" w="1392704">
                  <a:moveTo>
                    <a:pt x="0" y="0"/>
                  </a:moveTo>
                  <a:lnTo>
                    <a:pt x="1392704" y="0"/>
                  </a:lnTo>
                  <a:lnTo>
                    <a:pt x="1392704" y="342900"/>
                  </a:lnTo>
                  <a:lnTo>
                    <a:pt x="0" y="342900"/>
                  </a:lnTo>
                  <a:close/>
                </a:path>
              </a:pathLst>
            </a:custGeom>
            <a:solidFill>
              <a:srgbClr val="000000">
                <a:alpha val="0"/>
              </a:srgbClr>
            </a:solidFill>
          </p:spPr>
        </p:sp>
        <p:sp>
          <p:nvSpPr>
            <p:cNvPr name="TextBox 22" id="22"/>
            <p:cNvSpPr txBox="true"/>
            <p:nvPr/>
          </p:nvSpPr>
          <p:spPr>
            <a:xfrm>
              <a:off x="0" y="-28575"/>
              <a:ext cx="1392704" cy="371475"/>
            </a:xfrm>
            <a:prstGeom prst="rect">
              <a:avLst/>
            </a:prstGeom>
          </p:spPr>
          <p:txBody>
            <a:bodyPr anchor="t" rtlCol="false" tIns="0" lIns="0" bIns="0" rIns="0"/>
            <a:lstStyle/>
            <a:p>
              <a:pPr algn="ctr">
                <a:lnSpc>
                  <a:spcPts val="2100"/>
                </a:lnSpc>
              </a:pPr>
              <a:r>
                <a:rPr lang="en-US" sz="1500">
                  <a:solidFill>
                    <a:srgbClr val="5B5247"/>
                  </a:solidFill>
                  <a:latin typeface="Baskerville Display PT"/>
                  <a:ea typeface="Baskerville Display PT"/>
                  <a:cs typeface="Baskerville Display PT"/>
                  <a:sym typeface="Baskerville Display PT"/>
                </a:rPr>
                <a:t>CONTACT</a:t>
              </a:r>
            </a:p>
          </p:txBody>
        </p:sp>
      </p:grpSp>
      <p:grpSp>
        <p:nvGrpSpPr>
          <p:cNvPr name="Group 23" id="23"/>
          <p:cNvGrpSpPr/>
          <p:nvPr/>
        </p:nvGrpSpPr>
        <p:grpSpPr>
          <a:xfrm rot="0">
            <a:off x="10056728" y="412750"/>
            <a:ext cx="1044528" cy="523875"/>
            <a:chOff x="0" y="0"/>
            <a:chExt cx="1392704" cy="698500"/>
          </a:xfrm>
        </p:grpSpPr>
        <p:sp>
          <p:nvSpPr>
            <p:cNvPr name="Freeform 24" id="24"/>
            <p:cNvSpPr/>
            <p:nvPr/>
          </p:nvSpPr>
          <p:spPr>
            <a:xfrm flipH="false" flipV="false" rot="0">
              <a:off x="0" y="0"/>
              <a:ext cx="1392704" cy="698500"/>
            </a:xfrm>
            <a:custGeom>
              <a:avLst/>
              <a:gdLst/>
              <a:ahLst/>
              <a:cxnLst/>
              <a:rect r="r" b="b" t="t" l="l"/>
              <a:pathLst>
                <a:path h="698500" w="1392704">
                  <a:moveTo>
                    <a:pt x="0" y="0"/>
                  </a:moveTo>
                  <a:lnTo>
                    <a:pt x="1392704" y="0"/>
                  </a:lnTo>
                  <a:lnTo>
                    <a:pt x="1392704" y="698500"/>
                  </a:lnTo>
                  <a:lnTo>
                    <a:pt x="0" y="698500"/>
                  </a:lnTo>
                  <a:close/>
                </a:path>
              </a:pathLst>
            </a:custGeom>
            <a:solidFill>
              <a:srgbClr val="000000">
                <a:alpha val="0"/>
              </a:srgbClr>
            </a:solidFill>
          </p:spPr>
        </p:sp>
        <p:sp>
          <p:nvSpPr>
            <p:cNvPr name="TextBox 25" id="25"/>
            <p:cNvSpPr txBox="true"/>
            <p:nvPr/>
          </p:nvSpPr>
          <p:spPr>
            <a:xfrm>
              <a:off x="0" y="-28575"/>
              <a:ext cx="1392704" cy="727075"/>
            </a:xfrm>
            <a:prstGeom prst="rect">
              <a:avLst/>
            </a:prstGeom>
          </p:spPr>
          <p:txBody>
            <a:bodyPr anchor="t" rtlCol="false" tIns="0" lIns="0" bIns="0" rIns="0"/>
            <a:lstStyle/>
            <a:p>
              <a:pPr algn="ctr">
                <a:lnSpc>
                  <a:spcPts val="2100"/>
                </a:lnSpc>
              </a:pPr>
              <a:r>
                <a:rPr lang="en-US" sz="1500">
                  <a:solidFill>
                    <a:srgbClr val="5B5247"/>
                  </a:solidFill>
                  <a:latin typeface="Baskerville Display PT"/>
                  <a:ea typeface="Baskerville Display PT"/>
                  <a:cs typeface="Baskerville Display PT"/>
                  <a:sym typeface="Baskerville Display PT"/>
                </a:rPr>
                <a:t>PRIVACY &amp; TERMS</a:t>
              </a:r>
            </a:p>
          </p:txBody>
        </p:sp>
      </p:grpSp>
      <p:grpSp>
        <p:nvGrpSpPr>
          <p:cNvPr name="Group 26" id="26"/>
          <p:cNvGrpSpPr/>
          <p:nvPr/>
        </p:nvGrpSpPr>
        <p:grpSpPr>
          <a:xfrm rot="0">
            <a:off x="6706391" y="4846740"/>
            <a:ext cx="4008528" cy="306705"/>
            <a:chOff x="0" y="0"/>
            <a:chExt cx="5344704" cy="408940"/>
          </a:xfrm>
        </p:grpSpPr>
        <p:sp>
          <p:nvSpPr>
            <p:cNvPr name="Freeform 27" id="27"/>
            <p:cNvSpPr/>
            <p:nvPr/>
          </p:nvSpPr>
          <p:spPr>
            <a:xfrm flipH="false" flipV="false" rot="0">
              <a:off x="0" y="0"/>
              <a:ext cx="5344704" cy="408940"/>
            </a:xfrm>
            <a:custGeom>
              <a:avLst/>
              <a:gdLst/>
              <a:ahLst/>
              <a:cxnLst/>
              <a:rect r="r" b="b" t="t" l="l"/>
              <a:pathLst>
                <a:path h="408940" w="5344704">
                  <a:moveTo>
                    <a:pt x="0" y="0"/>
                  </a:moveTo>
                  <a:lnTo>
                    <a:pt x="5344704" y="0"/>
                  </a:lnTo>
                  <a:lnTo>
                    <a:pt x="5344704" y="408940"/>
                  </a:lnTo>
                  <a:lnTo>
                    <a:pt x="0" y="408940"/>
                  </a:lnTo>
                  <a:close/>
                </a:path>
              </a:pathLst>
            </a:custGeom>
            <a:solidFill>
              <a:srgbClr val="000000">
                <a:alpha val="0"/>
              </a:srgbClr>
            </a:solidFill>
          </p:spPr>
        </p:sp>
        <p:sp>
          <p:nvSpPr>
            <p:cNvPr name="TextBox 28" id="28"/>
            <p:cNvSpPr txBox="true"/>
            <p:nvPr/>
          </p:nvSpPr>
          <p:spPr>
            <a:xfrm>
              <a:off x="0" y="-38100"/>
              <a:ext cx="5344704" cy="447040"/>
            </a:xfrm>
            <a:prstGeom prst="rect">
              <a:avLst/>
            </a:prstGeom>
          </p:spPr>
          <p:txBody>
            <a:bodyPr anchor="t" rtlCol="false" tIns="0" lIns="0" bIns="0" rIns="0"/>
            <a:lstStyle/>
            <a:p>
              <a:pPr algn="ctr">
                <a:lnSpc>
                  <a:spcPts val="2520"/>
                </a:lnSpc>
              </a:pPr>
              <a:r>
                <a:rPr lang="en-US" sz="1800" b="true">
                  <a:solidFill>
                    <a:srgbClr val="5B5247"/>
                  </a:solidFill>
                  <a:latin typeface="Baskerville Display PT Bold"/>
                  <a:ea typeface="Baskerville Display PT Bold"/>
                  <a:cs typeface="Baskerville Display PT Bold"/>
                  <a:sym typeface="Baskerville Display PT Bold"/>
                </a:rPr>
                <a:t>JOYFUL MOMENTS,ROSY FLAVORS</a:t>
              </a:r>
            </a:p>
          </p:txBody>
        </p:sp>
      </p:grpSp>
      <p:grpSp>
        <p:nvGrpSpPr>
          <p:cNvPr name="Group 29" id="29"/>
          <p:cNvGrpSpPr/>
          <p:nvPr/>
        </p:nvGrpSpPr>
        <p:grpSpPr>
          <a:xfrm rot="0">
            <a:off x="6360480" y="6883410"/>
            <a:ext cx="5482811" cy="203190"/>
            <a:chOff x="0" y="0"/>
            <a:chExt cx="7310415" cy="270920"/>
          </a:xfrm>
        </p:grpSpPr>
        <p:sp>
          <p:nvSpPr>
            <p:cNvPr name="Freeform 30" id="30"/>
            <p:cNvSpPr/>
            <p:nvPr/>
          </p:nvSpPr>
          <p:spPr>
            <a:xfrm flipH="false" flipV="false" rot="0">
              <a:off x="0" y="0"/>
              <a:ext cx="7310415" cy="270920"/>
            </a:xfrm>
            <a:custGeom>
              <a:avLst/>
              <a:gdLst/>
              <a:ahLst/>
              <a:cxnLst/>
              <a:rect r="r" b="b" t="t" l="l"/>
              <a:pathLst>
                <a:path h="270920" w="7310415">
                  <a:moveTo>
                    <a:pt x="0" y="0"/>
                  </a:moveTo>
                  <a:lnTo>
                    <a:pt x="7310415" y="0"/>
                  </a:lnTo>
                  <a:lnTo>
                    <a:pt x="7310415" y="270920"/>
                  </a:lnTo>
                  <a:lnTo>
                    <a:pt x="0" y="270920"/>
                  </a:lnTo>
                  <a:close/>
                </a:path>
              </a:pathLst>
            </a:custGeom>
            <a:solidFill>
              <a:srgbClr val="000000">
                <a:alpha val="0"/>
              </a:srgbClr>
            </a:solidFill>
          </p:spPr>
        </p:sp>
        <p:sp>
          <p:nvSpPr>
            <p:cNvPr name="TextBox 31" id="31"/>
            <p:cNvSpPr txBox="true"/>
            <p:nvPr/>
          </p:nvSpPr>
          <p:spPr>
            <a:xfrm>
              <a:off x="0" y="-19050"/>
              <a:ext cx="7310415" cy="289970"/>
            </a:xfrm>
            <a:prstGeom prst="rect">
              <a:avLst/>
            </a:prstGeom>
          </p:spPr>
          <p:txBody>
            <a:bodyPr anchor="t" rtlCol="false" tIns="0" lIns="0" bIns="0" rIns="0"/>
            <a:lstStyle/>
            <a:p>
              <a:pPr algn="ctr">
                <a:lnSpc>
                  <a:spcPts val="1690"/>
                </a:lnSpc>
              </a:pPr>
              <a:r>
                <a:rPr lang="en-US" sz="1207">
                  <a:solidFill>
                    <a:srgbClr val="FFFFFF"/>
                  </a:solidFill>
                  <a:latin typeface="Baskerville Display PT"/>
                  <a:ea typeface="Baskerville Display PT"/>
                  <a:cs typeface="Baskerville Display PT"/>
                  <a:sym typeface="Baskerville Display PT"/>
                </a:rPr>
                <a:t>BREAK DOWN THE BIG PICTURE INTO SMALLER MANAGEABLE MILESTONES</a:t>
              </a:r>
            </a:p>
          </p:txBody>
        </p:sp>
      </p:grpSp>
      <p:grpSp>
        <p:nvGrpSpPr>
          <p:cNvPr name="Group 32" id="32"/>
          <p:cNvGrpSpPr/>
          <p:nvPr/>
        </p:nvGrpSpPr>
        <p:grpSpPr>
          <a:xfrm rot="0">
            <a:off x="4294972" y="431800"/>
            <a:ext cx="1801028" cy="257175"/>
            <a:chOff x="0" y="0"/>
            <a:chExt cx="2401371" cy="342900"/>
          </a:xfrm>
        </p:grpSpPr>
        <p:sp>
          <p:nvSpPr>
            <p:cNvPr name="Freeform 33" id="33"/>
            <p:cNvSpPr/>
            <p:nvPr/>
          </p:nvSpPr>
          <p:spPr>
            <a:xfrm flipH="false" flipV="false" rot="0">
              <a:off x="0" y="0"/>
              <a:ext cx="2401371" cy="342900"/>
            </a:xfrm>
            <a:custGeom>
              <a:avLst/>
              <a:gdLst/>
              <a:ahLst/>
              <a:cxnLst/>
              <a:rect r="r" b="b" t="t" l="l"/>
              <a:pathLst>
                <a:path h="342900" w="2401371">
                  <a:moveTo>
                    <a:pt x="0" y="0"/>
                  </a:moveTo>
                  <a:lnTo>
                    <a:pt x="2401371" y="0"/>
                  </a:lnTo>
                  <a:lnTo>
                    <a:pt x="2401371" y="342900"/>
                  </a:lnTo>
                  <a:lnTo>
                    <a:pt x="0" y="342900"/>
                  </a:lnTo>
                  <a:close/>
                </a:path>
              </a:pathLst>
            </a:custGeom>
            <a:solidFill>
              <a:srgbClr val="000000">
                <a:alpha val="0"/>
              </a:srgbClr>
            </a:solidFill>
          </p:spPr>
        </p:sp>
        <p:sp>
          <p:nvSpPr>
            <p:cNvPr name="TextBox 34" id="34"/>
            <p:cNvSpPr txBox="true"/>
            <p:nvPr/>
          </p:nvSpPr>
          <p:spPr>
            <a:xfrm>
              <a:off x="0" y="-28575"/>
              <a:ext cx="2401371" cy="371475"/>
            </a:xfrm>
            <a:prstGeom prst="rect">
              <a:avLst/>
            </a:prstGeom>
          </p:spPr>
          <p:txBody>
            <a:bodyPr anchor="t" rtlCol="false" tIns="0" lIns="0" bIns="0" rIns="0"/>
            <a:lstStyle/>
            <a:p>
              <a:pPr algn="ctr">
                <a:lnSpc>
                  <a:spcPts val="2100"/>
                </a:lnSpc>
              </a:pPr>
              <a:r>
                <a:rPr lang="en-US" sz="1500">
                  <a:solidFill>
                    <a:srgbClr val="5B5247"/>
                  </a:solidFill>
                  <a:latin typeface="Baskerville Display PT"/>
                  <a:ea typeface="Baskerville Display PT"/>
                  <a:cs typeface="Baskerville Display PT"/>
                  <a:sym typeface="Baskerville Display PT"/>
                </a:rPr>
                <a:t>TESTIMONIALS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43948" y="1362695"/>
            <a:ext cx="13600211" cy="5905796"/>
          </a:xfrm>
          <a:custGeom>
            <a:avLst/>
            <a:gdLst/>
            <a:ahLst/>
            <a:cxnLst/>
            <a:rect r="r" b="b" t="t" l="l"/>
            <a:pathLst>
              <a:path h="5905796" w="13600211">
                <a:moveTo>
                  <a:pt x="0" y="0"/>
                </a:moveTo>
                <a:lnTo>
                  <a:pt x="13600211" y="0"/>
                </a:lnTo>
                <a:lnTo>
                  <a:pt x="13600211" y="5905796"/>
                </a:lnTo>
                <a:lnTo>
                  <a:pt x="0" y="59057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763875" y="6118865"/>
            <a:ext cx="2286000" cy="454248"/>
          </a:xfrm>
          <a:custGeom>
            <a:avLst/>
            <a:gdLst/>
            <a:ahLst/>
            <a:cxnLst/>
            <a:rect r="r" b="b" t="t" l="l"/>
            <a:pathLst>
              <a:path h="454248" w="2286000">
                <a:moveTo>
                  <a:pt x="0" y="0"/>
                </a:moveTo>
                <a:lnTo>
                  <a:pt x="2286000" y="0"/>
                </a:lnTo>
                <a:lnTo>
                  <a:pt x="2286000" y="454248"/>
                </a:lnTo>
                <a:lnTo>
                  <a:pt x="0" y="4542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641903" y="6161132"/>
            <a:ext cx="2529944" cy="290196"/>
            <a:chOff x="0" y="0"/>
            <a:chExt cx="3373259" cy="386928"/>
          </a:xfrm>
        </p:grpSpPr>
        <p:sp>
          <p:nvSpPr>
            <p:cNvPr name="Freeform 5" id="5"/>
            <p:cNvSpPr/>
            <p:nvPr/>
          </p:nvSpPr>
          <p:spPr>
            <a:xfrm flipH="false" flipV="false" rot="0">
              <a:off x="0" y="0"/>
              <a:ext cx="3373259" cy="386928"/>
            </a:xfrm>
            <a:custGeom>
              <a:avLst/>
              <a:gdLst/>
              <a:ahLst/>
              <a:cxnLst/>
              <a:rect r="r" b="b" t="t" l="l"/>
              <a:pathLst>
                <a:path h="386928" w="3373259">
                  <a:moveTo>
                    <a:pt x="0" y="0"/>
                  </a:moveTo>
                  <a:lnTo>
                    <a:pt x="3373259" y="0"/>
                  </a:lnTo>
                  <a:lnTo>
                    <a:pt x="3373259" y="386928"/>
                  </a:lnTo>
                  <a:lnTo>
                    <a:pt x="0" y="386928"/>
                  </a:lnTo>
                  <a:close/>
                </a:path>
              </a:pathLst>
            </a:custGeom>
            <a:solidFill>
              <a:srgbClr val="000000">
                <a:alpha val="0"/>
              </a:srgbClr>
            </a:solidFill>
          </p:spPr>
        </p:sp>
        <p:sp>
          <p:nvSpPr>
            <p:cNvPr name="TextBox 6" id="6"/>
            <p:cNvSpPr txBox="true"/>
            <p:nvPr/>
          </p:nvSpPr>
          <p:spPr>
            <a:xfrm>
              <a:off x="0" y="-38100"/>
              <a:ext cx="3373259" cy="425028"/>
            </a:xfrm>
            <a:prstGeom prst="rect">
              <a:avLst/>
            </a:prstGeom>
          </p:spPr>
          <p:txBody>
            <a:bodyPr anchor="t" rtlCol="false" tIns="0" lIns="0" bIns="0" rIns="0"/>
            <a:lstStyle/>
            <a:p>
              <a:pPr algn="ctr">
                <a:lnSpc>
                  <a:spcPts val="2379"/>
                </a:lnSpc>
              </a:pPr>
              <a:r>
                <a:rPr lang="en-US" sz="1699" b="true">
                  <a:solidFill>
                    <a:srgbClr val="FFFFFF"/>
                  </a:solidFill>
                  <a:latin typeface="Baskerville Display PT Bold"/>
                  <a:ea typeface="Baskerville Display PT Bold"/>
                  <a:cs typeface="Baskerville Display PT Bold"/>
                  <a:sym typeface="Baskerville Display PT Bold"/>
                </a:rPr>
                <a:t>Chocomoist cupcake</a:t>
              </a:r>
            </a:p>
          </p:txBody>
        </p:sp>
      </p:grpSp>
      <p:sp>
        <p:nvSpPr>
          <p:cNvPr name="Freeform 7" id="7"/>
          <p:cNvSpPr/>
          <p:nvPr/>
        </p:nvSpPr>
        <p:spPr>
          <a:xfrm flipH="false" flipV="false" rot="0">
            <a:off x="4214852" y="3344834"/>
            <a:ext cx="3762296" cy="2653472"/>
          </a:xfrm>
          <a:custGeom>
            <a:avLst/>
            <a:gdLst/>
            <a:ahLst/>
            <a:cxnLst/>
            <a:rect r="r" b="b" t="t" l="l"/>
            <a:pathLst>
              <a:path h="2653472" w="3762296">
                <a:moveTo>
                  <a:pt x="0" y="0"/>
                </a:moveTo>
                <a:lnTo>
                  <a:pt x="3762296" y="0"/>
                </a:lnTo>
                <a:lnTo>
                  <a:pt x="3762296" y="2653472"/>
                </a:lnTo>
                <a:lnTo>
                  <a:pt x="0" y="2653472"/>
                </a:lnTo>
                <a:lnTo>
                  <a:pt x="0" y="0"/>
                </a:lnTo>
                <a:close/>
              </a:path>
            </a:pathLst>
          </a:custGeom>
          <a:blipFill>
            <a:blip r:embed="rId6"/>
            <a:stretch>
              <a:fillRect l="0" t="-38367" r="0" b="-38440"/>
            </a:stretch>
          </a:blipFill>
        </p:spPr>
      </p:sp>
      <p:sp>
        <p:nvSpPr>
          <p:cNvPr name="Freeform 8" id="8"/>
          <p:cNvSpPr/>
          <p:nvPr/>
        </p:nvSpPr>
        <p:spPr>
          <a:xfrm flipH="false" flipV="false" rot="0">
            <a:off x="929719" y="5229790"/>
            <a:ext cx="2286000" cy="454248"/>
          </a:xfrm>
          <a:custGeom>
            <a:avLst/>
            <a:gdLst/>
            <a:ahLst/>
            <a:cxnLst/>
            <a:rect r="r" b="b" t="t" l="l"/>
            <a:pathLst>
              <a:path h="454248" w="2286000">
                <a:moveTo>
                  <a:pt x="0" y="0"/>
                </a:moveTo>
                <a:lnTo>
                  <a:pt x="2286000" y="0"/>
                </a:lnTo>
                <a:lnTo>
                  <a:pt x="2286000" y="454248"/>
                </a:lnTo>
                <a:lnTo>
                  <a:pt x="0" y="4542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1396136" y="5361208"/>
            <a:ext cx="1353166" cy="323215"/>
            <a:chOff x="0" y="0"/>
            <a:chExt cx="1804221" cy="430953"/>
          </a:xfrm>
        </p:grpSpPr>
        <p:sp>
          <p:nvSpPr>
            <p:cNvPr name="Freeform 10" id="10"/>
            <p:cNvSpPr/>
            <p:nvPr/>
          </p:nvSpPr>
          <p:spPr>
            <a:xfrm flipH="false" flipV="false" rot="0">
              <a:off x="0" y="0"/>
              <a:ext cx="1804221" cy="430953"/>
            </a:xfrm>
            <a:custGeom>
              <a:avLst/>
              <a:gdLst/>
              <a:ahLst/>
              <a:cxnLst/>
              <a:rect r="r" b="b" t="t" l="l"/>
              <a:pathLst>
                <a:path h="430953" w="1804221">
                  <a:moveTo>
                    <a:pt x="0" y="0"/>
                  </a:moveTo>
                  <a:lnTo>
                    <a:pt x="1804221" y="0"/>
                  </a:lnTo>
                  <a:lnTo>
                    <a:pt x="1804221" y="430953"/>
                  </a:lnTo>
                  <a:lnTo>
                    <a:pt x="0" y="430953"/>
                  </a:lnTo>
                  <a:close/>
                </a:path>
              </a:pathLst>
            </a:custGeom>
            <a:solidFill>
              <a:srgbClr val="000000">
                <a:alpha val="0"/>
              </a:srgbClr>
            </a:solidFill>
          </p:spPr>
        </p:sp>
        <p:sp>
          <p:nvSpPr>
            <p:cNvPr name="TextBox 11" id="11"/>
            <p:cNvSpPr txBox="true"/>
            <p:nvPr/>
          </p:nvSpPr>
          <p:spPr>
            <a:xfrm>
              <a:off x="0" y="-38100"/>
              <a:ext cx="1804221" cy="469053"/>
            </a:xfrm>
            <a:prstGeom prst="rect">
              <a:avLst/>
            </a:prstGeom>
          </p:spPr>
          <p:txBody>
            <a:bodyPr anchor="t" rtlCol="false" tIns="0" lIns="0" bIns="0" rIns="0"/>
            <a:lstStyle/>
            <a:p>
              <a:pPr algn="ctr">
                <a:lnSpc>
                  <a:spcPts val="2659"/>
                </a:lnSpc>
              </a:pPr>
              <a:r>
                <a:rPr lang="en-US" sz="1899" b="true">
                  <a:solidFill>
                    <a:srgbClr val="FFFFFF"/>
                  </a:solidFill>
                  <a:latin typeface="Baskerville Display PT Bold"/>
                  <a:ea typeface="Baskerville Display PT Bold"/>
                  <a:cs typeface="Baskerville Display PT Bold"/>
                  <a:sym typeface="Baskerville Display PT Bold"/>
                </a:rPr>
                <a:t>Banana loaf</a:t>
              </a:r>
            </a:p>
          </p:txBody>
        </p:sp>
      </p:grpSp>
      <p:sp>
        <p:nvSpPr>
          <p:cNvPr name="Freeform 12" id="12"/>
          <p:cNvSpPr/>
          <p:nvPr/>
        </p:nvSpPr>
        <p:spPr>
          <a:xfrm flipH="false" flipV="false" rot="0">
            <a:off x="191571" y="2018097"/>
            <a:ext cx="3762296" cy="2653472"/>
          </a:xfrm>
          <a:custGeom>
            <a:avLst/>
            <a:gdLst/>
            <a:ahLst/>
            <a:cxnLst/>
            <a:rect r="r" b="b" t="t" l="l"/>
            <a:pathLst>
              <a:path h="2653472" w="3762296">
                <a:moveTo>
                  <a:pt x="0" y="0"/>
                </a:moveTo>
                <a:lnTo>
                  <a:pt x="3762296" y="0"/>
                </a:lnTo>
                <a:lnTo>
                  <a:pt x="3762296" y="2653472"/>
                </a:lnTo>
                <a:lnTo>
                  <a:pt x="0" y="2653472"/>
                </a:lnTo>
                <a:lnTo>
                  <a:pt x="0" y="0"/>
                </a:lnTo>
                <a:close/>
              </a:path>
            </a:pathLst>
          </a:custGeom>
          <a:blipFill>
            <a:blip r:embed="rId7"/>
            <a:stretch>
              <a:fillRect l="0" t="-35557" r="0" b="-35606"/>
            </a:stretch>
          </a:blipFill>
        </p:spPr>
      </p:sp>
      <p:sp>
        <p:nvSpPr>
          <p:cNvPr name="Freeform 13" id="13"/>
          <p:cNvSpPr/>
          <p:nvPr/>
        </p:nvSpPr>
        <p:spPr>
          <a:xfrm flipH="false" flipV="false" rot="0">
            <a:off x="8972471" y="5279705"/>
            <a:ext cx="2286000" cy="454248"/>
          </a:xfrm>
          <a:custGeom>
            <a:avLst/>
            <a:gdLst/>
            <a:ahLst/>
            <a:cxnLst/>
            <a:rect r="r" b="b" t="t" l="l"/>
            <a:pathLst>
              <a:path h="454248" w="2286000">
                <a:moveTo>
                  <a:pt x="0" y="0"/>
                </a:moveTo>
                <a:lnTo>
                  <a:pt x="2286000" y="0"/>
                </a:lnTo>
                <a:lnTo>
                  <a:pt x="2286000" y="454248"/>
                </a:lnTo>
                <a:lnTo>
                  <a:pt x="0" y="4542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9205680" y="5361208"/>
            <a:ext cx="1819583" cy="306706"/>
            <a:chOff x="0" y="0"/>
            <a:chExt cx="2426111" cy="408941"/>
          </a:xfrm>
        </p:grpSpPr>
        <p:sp>
          <p:nvSpPr>
            <p:cNvPr name="Freeform 15" id="15"/>
            <p:cNvSpPr/>
            <p:nvPr/>
          </p:nvSpPr>
          <p:spPr>
            <a:xfrm flipH="false" flipV="false" rot="0">
              <a:off x="0" y="0"/>
              <a:ext cx="2426111" cy="408941"/>
            </a:xfrm>
            <a:custGeom>
              <a:avLst/>
              <a:gdLst/>
              <a:ahLst/>
              <a:cxnLst/>
              <a:rect r="r" b="b" t="t" l="l"/>
              <a:pathLst>
                <a:path h="408941" w="2426111">
                  <a:moveTo>
                    <a:pt x="0" y="0"/>
                  </a:moveTo>
                  <a:lnTo>
                    <a:pt x="2426111" y="0"/>
                  </a:lnTo>
                  <a:lnTo>
                    <a:pt x="2426111" y="408941"/>
                  </a:lnTo>
                  <a:lnTo>
                    <a:pt x="0" y="408941"/>
                  </a:lnTo>
                  <a:close/>
                </a:path>
              </a:pathLst>
            </a:custGeom>
            <a:solidFill>
              <a:srgbClr val="000000">
                <a:alpha val="0"/>
              </a:srgbClr>
            </a:solidFill>
          </p:spPr>
        </p:sp>
        <p:sp>
          <p:nvSpPr>
            <p:cNvPr name="TextBox 16" id="16"/>
            <p:cNvSpPr txBox="true"/>
            <p:nvPr/>
          </p:nvSpPr>
          <p:spPr>
            <a:xfrm>
              <a:off x="0" y="-38100"/>
              <a:ext cx="2426111" cy="447041"/>
            </a:xfrm>
            <a:prstGeom prst="rect">
              <a:avLst/>
            </a:prstGeom>
          </p:spPr>
          <p:txBody>
            <a:bodyPr anchor="t" rtlCol="false" tIns="0" lIns="0" bIns="0" rIns="0"/>
            <a:lstStyle/>
            <a:p>
              <a:pPr algn="ctr">
                <a:lnSpc>
                  <a:spcPts val="2519"/>
                </a:lnSpc>
              </a:pPr>
              <a:r>
                <a:rPr lang="en-US" sz="1799" b="true">
                  <a:solidFill>
                    <a:srgbClr val="FFFFFF"/>
                  </a:solidFill>
                  <a:latin typeface="Baskerville Display PT Bold"/>
                  <a:ea typeface="Baskerville Display PT Bold"/>
                  <a:cs typeface="Baskerville Display PT Bold"/>
                  <a:sym typeface="Baskerville Display PT Bold"/>
                </a:rPr>
                <a:t>Plain Mini Donut </a:t>
              </a:r>
            </a:p>
          </p:txBody>
        </p:sp>
      </p:grpSp>
      <p:sp>
        <p:nvSpPr>
          <p:cNvPr name="Freeform 17" id="17"/>
          <p:cNvSpPr/>
          <p:nvPr/>
        </p:nvSpPr>
        <p:spPr>
          <a:xfrm flipH="false" flipV="false" rot="0">
            <a:off x="8148598" y="2018097"/>
            <a:ext cx="3762296" cy="2653472"/>
          </a:xfrm>
          <a:custGeom>
            <a:avLst/>
            <a:gdLst/>
            <a:ahLst/>
            <a:cxnLst/>
            <a:rect r="r" b="b" t="t" l="l"/>
            <a:pathLst>
              <a:path h="2653472" w="3762296">
                <a:moveTo>
                  <a:pt x="0" y="0"/>
                </a:moveTo>
                <a:lnTo>
                  <a:pt x="3762296" y="0"/>
                </a:lnTo>
                <a:lnTo>
                  <a:pt x="3762296" y="2653472"/>
                </a:lnTo>
                <a:lnTo>
                  <a:pt x="0" y="2653472"/>
                </a:lnTo>
                <a:lnTo>
                  <a:pt x="0" y="0"/>
                </a:lnTo>
                <a:close/>
              </a:path>
            </a:pathLst>
          </a:custGeom>
          <a:blipFill>
            <a:blip r:embed="rId8"/>
            <a:stretch>
              <a:fillRect l="0" t="-44521" r="-42" b="-44521"/>
            </a:stretch>
          </a:blipFill>
        </p:spPr>
      </p:sp>
      <p:grpSp>
        <p:nvGrpSpPr>
          <p:cNvPr name="Group 18" id="18"/>
          <p:cNvGrpSpPr/>
          <p:nvPr/>
        </p:nvGrpSpPr>
        <p:grpSpPr>
          <a:xfrm rot="0">
            <a:off x="4046059" y="704850"/>
            <a:ext cx="4099882" cy="514350"/>
            <a:chOff x="0" y="0"/>
            <a:chExt cx="5466509" cy="685800"/>
          </a:xfrm>
        </p:grpSpPr>
        <p:sp>
          <p:nvSpPr>
            <p:cNvPr name="Freeform 19" id="19"/>
            <p:cNvSpPr/>
            <p:nvPr/>
          </p:nvSpPr>
          <p:spPr>
            <a:xfrm flipH="false" flipV="false" rot="0">
              <a:off x="0" y="0"/>
              <a:ext cx="5466509" cy="685800"/>
            </a:xfrm>
            <a:custGeom>
              <a:avLst/>
              <a:gdLst/>
              <a:ahLst/>
              <a:cxnLst/>
              <a:rect r="r" b="b" t="t" l="l"/>
              <a:pathLst>
                <a:path h="685800" w="5466509">
                  <a:moveTo>
                    <a:pt x="0" y="0"/>
                  </a:moveTo>
                  <a:lnTo>
                    <a:pt x="5466509" y="0"/>
                  </a:lnTo>
                  <a:lnTo>
                    <a:pt x="5466509" y="685800"/>
                  </a:lnTo>
                  <a:lnTo>
                    <a:pt x="0" y="685800"/>
                  </a:lnTo>
                  <a:close/>
                </a:path>
              </a:pathLst>
            </a:custGeom>
            <a:solidFill>
              <a:srgbClr val="000000">
                <a:alpha val="0"/>
              </a:srgbClr>
            </a:solidFill>
          </p:spPr>
        </p:sp>
        <p:sp>
          <p:nvSpPr>
            <p:cNvPr name="TextBox 20" id="20"/>
            <p:cNvSpPr txBox="true"/>
            <p:nvPr/>
          </p:nvSpPr>
          <p:spPr>
            <a:xfrm>
              <a:off x="0" y="-57150"/>
              <a:ext cx="5466509" cy="742950"/>
            </a:xfrm>
            <a:prstGeom prst="rect">
              <a:avLst/>
            </a:prstGeom>
          </p:spPr>
          <p:txBody>
            <a:bodyPr anchor="t" rtlCol="false" tIns="0" lIns="0" bIns="0" rIns="0"/>
            <a:lstStyle/>
            <a:p>
              <a:pPr algn="ctr">
                <a:lnSpc>
                  <a:spcPts val="4200"/>
                </a:lnSpc>
              </a:pPr>
              <a:r>
                <a:rPr lang="en-US" sz="3000" spc="231">
                  <a:solidFill>
                    <a:srgbClr val="5B5247"/>
                  </a:solidFill>
                  <a:latin typeface="Baskerville Display PT"/>
                  <a:ea typeface="Baskerville Display PT"/>
                  <a:cs typeface="Baskerville Display PT"/>
                  <a:sym typeface="Baskerville Display PT"/>
                </a:rPr>
                <a:t>BEST SELLER</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61814" y="925568"/>
            <a:ext cx="9750919" cy="6154157"/>
            <a:chOff x="0" y="0"/>
            <a:chExt cx="13001225" cy="8205543"/>
          </a:xfrm>
        </p:grpSpPr>
        <p:sp>
          <p:nvSpPr>
            <p:cNvPr name="Freeform 3" id="3"/>
            <p:cNvSpPr/>
            <p:nvPr/>
          </p:nvSpPr>
          <p:spPr>
            <a:xfrm flipH="false" flipV="false" rot="0">
              <a:off x="0" y="0"/>
              <a:ext cx="13001244" cy="8205597"/>
            </a:xfrm>
            <a:custGeom>
              <a:avLst/>
              <a:gdLst/>
              <a:ahLst/>
              <a:cxnLst/>
              <a:rect r="r" b="b" t="t" l="l"/>
              <a:pathLst>
                <a:path h="8205597" w="13001244">
                  <a:moveTo>
                    <a:pt x="0" y="0"/>
                  </a:moveTo>
                  <a:lnTo>
                    <a:pt x="13001244" y="0"/>
                  </a:lnTo>
                  <a:lnTo>
                    <a:pt x="13001244" y="8205597"/>
                  </a:lnTo>
                  <a:lnTo>
                    <a:pt x="0" y="8205597"/>
                  </a:lnTo>
                  <a:close/>
                </a:path>
              </a:pathLst>
            </a:custGeom>
            <a:gradFill rotWithShape="true">
              <a:gsLst>
                <a:gs pos="0">
                  <a:srgbClr val="FFF7AD">
                    <a:alpha val="50000"/>
                  </a:srgbClr>
                </a:gs>
                <a:gs pos="100000">
                  <a:srgbClr val="FFA9F9">
                    <a:alpha val="50000"/>
                  </a:srgbClr>
                </a:gs>
              </a:gsLst>
              <a:lin ang="0"/>
            </a:gradFill>
          </p:spPr>
        </p:sp>
      </p:grpSp>
      <p:sp>
        <p:nvSpPr>
          <p:cNvPr name="Freeform 4" id="4"/>
          <p:cNvSpPr/>
          <p:nvPr/>
        </p:nvSpPr>
        <p:spPr>
          <a:xfrm flipH="false" flipV="false" rot="0">
            <a:off x="620880" y="163013"/>
            <a:ext cx="4876800" cy="762554"/>
          </a:xfrm>
          <a:custGeom>
            <a:avLst/>
            <a:gdLst/>
            <a:ahLst/>
            <a:cxnLst/>
            <a:rect r="r" b="b" t="t" l="l"/>
            <a:pathLst>
              <a:path h="762554" w="4876800">
                <a:moveTo>
                  <a:pt x="0" y="0"/>
                </a:moveTo>
                <a:lnTo>
                  <a:pt x="4876800" y="0"/>
                </a:lnTo>
                <a:lnTo>
                  <a:pt x="4876800" y="762554"/>
                </a:lnTo>
                <a:lnTo>
                  <a:pt x="0" y="762554"/>
                </a:lnTo>
                <a:lnTo>
                  <a:pt x="0" y="0"/>
                </a:lnTo>
                <a:close/>
              </a:path>
            </a:pathLst>
          </a:custGeom>
          <a:blipFill>
            <a:blip r:embed="rId2">
              <a:extLst>
                <a:ext uri="{96DAC541-7B7A-43D3-8B79-37D633B846F1}">
                  <asvg:svgBlip xmlns:asvg="http://schemas.microsoft.com/office/drawing/2016/SVG/main" r:embed="rId3"/>
                </a:ext>
              </a:extLst>
            </a:blip>
            <a:stretch>
              <a:fillRect l="0" t="-588" r="0" b="-588"/>
            </a:stretch>
          </a:blipFill>
        </p:spPr>
      </p:sp>
      <p:grpSp>
        <p:nvGrpSpPr>
          <p:cNvPr name="Group 5" id="5"/>
          <p:cNvGrpSpPr/>
          <p:nvPr/>
        </p:nvGrpSpPr>
        <p:grpSpPr>
          <a:xfrm rot="0">
            <a:off x="1101439" y="115569"/>
            <a:ext cx="3342498" cy="646431"/>
            <a:chOff x="0" y="0"/>
            <a:chExt cx="4456664" cy="861908"/>
          </a:xfrm>
        </p:grpSpPr>
        <p:sp>
          <p:nvSpPr>
            <p:cNvPr name="Freeform 6" id="6"/>
            <p:cNvSpPr/>
            <p:nvPr/>
          </p:nvSpPr>
          <p:spPr>
            <a:xfrm flipH="false" flipV="false" rot="0">
              <a:off x="0" y="0"/>
              <a:ext cx="4456664" cy="861908"/>
            </a:xfrm>
            <a:custGeom>
              <a:avLst/>
              <a:gdLst/>
              <a:ahLst/>
              <a:cxnLst/>
              <a:rect r="r" b="b" t="t" l="l"/>
              <a:pathLst>
                <a:path h="861908" w="4456664">
                  <a:moveTo>
                    <a:pt x="0" y="0"/>
                  </a:moveTo>
                  <a:lnTo>
                    <a:pt x="4456664" y="0"/>
                  </a:lnTo>
                  <a:lnTo>
                    <a:pt x="4456664" y="861908"/>
                  </a:lnTo>
                  <a:lnTo>
                    <a:pt x="0" y="861908"/>
                  </a:lnTo>
                  <a:close/>
                </a:path>
              </a:pathLst>
            </a:custGeom>
            <a:solidFill>
              <a:srgbClr val="000000">
                <a:alpha val="0"/>
              </a:srgbClr>
            </a:solidFill>
          </p:spPr>
        </p:sp>
        <p:sp>
          <p:nvSpPr>
            <p:cNvPr name="TextBox 7" id="7"/>
            <p:cNvSpPr txBox="true"/>
            <p:nvPr/>
          </p:nvSpPr>
          <p:spPr>
            <a:xfrm>
              <a:off x="0" y="-76200"/>
              <a:ext cx="4456664" cy="938108"/>
            </a:xfrm>
            <a:prstGeom prst="rect">
              <a:avLst/>
            </a:prstGeom>
          </p:spPr>
          <p:txBody>
            <a:bodyPr anchor="t" rtlCol="false" tIns="0" lIns="0" bIns="0" rIns="0"/>
            <a:lstStyle/>
            <a:p>
              <a:pPr algn="ctr">
                <a:lnSpc>
                  <a:spcPts val="5319"/>
                </a:lnSpc>
              </a:pPr>
              <a:r>
                <a:rPr lang="en-US" sz="3799" b="true">
                  <a:solidFill>
                    <a:srgbClr val="000000"/>
                  </a:solidFill>
                  <a:latin typeface="Baskerville Display PT Bold"/>
                  <a:ea typeface="Baskerville Display PT Bold"/>
                  <a:cs typeface="Baskerville Display PT Bold"/>
                  <a:sym typeface="Baskerville Display PT Bold"/>
                </a:rPr>
                <a:t>ABOUT US</a:t>
              </a:r>
            </a:p>
          </p:txBody>
        </p:sp>
      </p:grpSp>
      <p:grpSp>
        <p:nvGrpSpPr>
          <p:cNvPr name="Group 8" id="8"/>
          <p:cNvGrpSpPr/>
          <p:nvPr/>
        </p:nvGrpSpPr>
        <p:grpSpPr>
          <a:xfrm rot="0">
            <a:off x="1806600" y="1031703"/>
            <a:ext cx="9455046" cy="1889931"/>
            <a:chOff x="0" y="0"/>
            <a:chExt cx="12606728" cy="2519908"/>
          </a:xfrm>
        </p:grpSpPr>
        <p:sp>
          <p:nvSpPr>
            <p:cNvPr name="Freeform 9" id="9"/>
            <p:cNvSpPr/>
            <p:nvPr/>
          </p:nvSpPr>
          <p:spPr>
            <a:xfrm flipH="false" flipV="false" rot="0">
              <a:off x="0" y="0"/>
              <a:ext cx="12606728" cy="2519908"/>
            </a:xfrm>
            <a:custGeom>
              <a:avLst/>
              <a:gdLst/>
              <a:ahLst/>
              <a:cxnLst/>
              <a:rect r="r" b="b" t="t" l="l"/>
              <a:pathLst>
                <a:path h="2519908" w="12606728">
                  <a:moveTo>
                    <a:pt x="0" y="0"/>
                  </a:moveTo>
                  <a:lnTo>
                    <a:pt x="12606728" y="0"/>
                  </a:lnTo>
                  <a:lnTo>
                    <a:pt x="12606728" y="2519908"/>
                  </a:lnTo>
                  <a:lnTo>
                    <a:pt x="0" y="2519908"/>
                  </a:lnTo>
                  <a:close/>
                </a:path>
              </a:pathLst>
            </a:custGeom>
            <a:solidFill>
              <a:srgbClr val="000000">
                <a:alpha val="0"/>
              </a:srgbClr>
            </a:solidFill>
          </p:spPr>
        </p:sp>
        <p:sp>
          <p:nvSpPr>
            <p:cNvPr name="TextBox 10" id="10"/>
            <p:cNvSpPr txBox="true"/>
            <p:nvPr/>
          </p:nvSpPr>
          <p:spPr>
            <a:xfrm>
              <a:off x="0" y="-85725"/>
              <a:ext cx="12606728" cy="2605633"/>
            </a:xfrm>
            <a:prstGeom prst="rect">
              <a:avLst/>
            </a:prstGeom>
          </p:spPr>
          <p:txBody>
            <a:bodyPr anchor="t" rtlCol="false" tIns="0" lIns="0" bIns="0" rIns="0"/>
            <a:lstStyle/>
            <a:p>
              <a:pPr algn="l">
                <a:lnSpc>
                  <a:spcPts val="2929"/>
                </a:lnSpc>
              </a:pPr>
              <a:r>
                <a:rPr lang="en-US" sz="2093">
                  <a:solidFill>
                    <a:srgbClr val="000000"/>
                  </a:solidFill>
                  <a:latin typeface="Times New Roman"/>
                  <a:ea typeface="Times New Roman"/>
                  <a:cs typeface="Times New Roman"/>
                  <a:sym typeface="Times New Roman"/>
                </a:rPr>
                <a:t>Joyful Rose Delights is a local bakery business that provides high-quality, freshly baked goods designed to bring happiness and joy to customers. With a focus on fresh ingredients, creativity, and excellent customer service, the business aims to create memorable experiences and grow its loyal customer base both locally and online</a:t>
              </a:r>
            </a:p>
          </p:txBody>
        </p:sp>
      </p:grpSp>
      <p:grpSp>
        <p:nvGrpSpPr>
          <p:cNvPr name="Group 11" id="11"/>
          <p:cNvGrpSpPr/>
          <p:nvPr/>
        </p:nvGrpSpPr>
        <p:grpSpPr>
          <a:xfrm rot="0">
            <a:off x="415305" y="5334583"/>
            <a:ext cx="1161157" cy="455296"/>
            <a:chOff x="0" y="0"/>
            <a:chExt cx="1548209" cy="607061"/>
          </a:xfrm>
        </p:grpSpPr>
        <p:sp>
          <p:nvSpPr>
            <p:cNvPr name="Freeform 12" id="12"/>
            <p:cNvSpPr/>
            <p:nvPr/>
          </p:nvSpPr>
          <p:spPr>
            <a:xfrm flipH="false" flipV="false" rot="0">
              <a:off x="0" y="0"/>
              <a:ext cx="1548209" cy="607061"/>
            </a:xfrm>
            <a:custGeom>
              <a:avLst/>
              <a:gdLst/>
              <a:ahLst/>
              <a:cxnLst/>
              <a:rect r="r" b="b" t="t" l="l"/>
              <a:pathLst>
                <a:path h="607061" w="1548209">
                  <a:moveTo>
                    <a:pt x="0" y="0"/>
                  </a:moveTo>
                  <a:lnTo>
                    <a:pt x="1548209" y="0"/>
                  </a:lnTo>
                  <a:lnTo>
                    <a:pt x="1548209" y="607061"/>
                  </a:lnTo>
                  <a:lnTo>
                    <a:pt x="0" y="607061"/>
                  </a:lnTo>
                  <a:close/>
                </a:path>
              </a:pathLst>
            </a:custGeom>
            <a:solidFill>
              <a:srgbClr val="000000">
                <a:alpha val="0"/>
              </a:srgbClr>
            </a:solidFill>
          </p:spPr>
        </p:sp>
        <p:sp>
          <p:nvSpPr>
            <p:cNvPr name="TextBox 13" id="13"/>
            <p:cNvSpPr txBox="true"/>
            <p:nvPr/>
          </p:nvSpPr>
          <p:spPr>
            <a:xfrm>
              <a:off x="0" y="-47625"/>
              <a:ext cx="1548209" cy="654686"/>
            </a:xfrm>
            <a:prstGeom prst="rect">
              <a:avLst/>
            </a:prstGeom>
          </p:spPr>
          <p:txBody>
            <a:bodyPr anchor="t" rtlCol="false" tIns="0" lIns="0" bIns="0" rIns="0"/>
            <a:lstStyle/>
            <a:p>
              <a:pPr algn="ctr">
                <a:lnSpc>
                  <a:spcPts val="3779"/>
                </a:lnSpc>
              </a:pPr>
              <a:r>
                <a:rPr lang="en-US" sz="2699">
                  <a:solidFill>
                    <a:srgbClr val="000000"/>
                  </a:solidFill>
                  <a:latin typeface="Baskerville Display PT"/>
                  <a:ea typeface="Baskerville Display PT"/>
                  <a:cs typeface="Baskerville Display PT"/>
                  <a:sym typeface="Baskerville Display PT"/>
                </a:rPr>
                <a:t>VISION</a:t>
              </a:r>
            </a:p>
          </p:txBody>
        </p:sp>
      </p:grpSp>
      <p:grpSp>
        <p:nvGrpSpPr>
          <p:cNvPr name="Group 14" id="14"/>
          <p:cNvGrpSpPr/>
          <p:nvPr/>
        </p:nvGrpSpPr>
        <p:grpSpPr>
          <a:xfrm rot="0">
            <a:off x="124525" y="3373119"/>
            <a:ext cx="1274951" cy="389256"/>
            <a:chOff x="0" y="0"/>
            <a:chExt cx="1699935" cy="519008"/>
          </a:xfrm>
        </p:grpSpPr>
        <p:sp>
          <p:nvSpPr>
            <p:cNvPr name="Freeform 15" id="15"/>
            <p:cNvSpPr/>
            <p:nvPr/>
          </p:nvSpPr>
          <p:spPr>
            <a:xfrm flipH="false" flipV="false" rot="0">
              <a:off x="0" y="0"/>
              <a:ext cx="1699935" cy="519008"/>
            </a:xfrm>
            <a:custGeom>
              <a:avLst/>
              <a:gdLst/>
              <a:ahLst/>
              <a:cxnLst/>
              <a:rect r="r" b="b" t="t" l="l"/>
              <a:pathLst>
                <a:path h="519008" w="1699935">
                  <a:moveTo>
                    <a:pt x="0" y="0"/>
                  </a:moveTo>
                  <a:lnTo>
                    <a:pt x="1699935" y="0"/>
                  </a:lnTo>
                  <a:lnTo>
                    <a:pt x="1699935" y="519008"/>
                  </a:lnTo>
                  <a:lnTo>
                    <a:pt x="0" y="519008"/>
                  </a:lnTo>
                  <a:close/>
                </a:path>
              </a:pathLst>
            </a:custGeom>
            <a:solidFill>
              <a:srgbClr val="000000">
                <a:alpha val="0"/>
              </a:srgbClr>
            </a:solidFill>
          </p:spPr>
        </p:sp>
        <p:sp>
          <p:nvSpPr>
            <p:cNvPr name="TextBox 16" id="16"/>
            <p:cNvSpPr txBox="true"/>
            <p:nvPr/>
          </p:nvSpPr>
          <p:spPr>
            <a:xfrm>
              <a:off x="0" y="-47625"/>
              <a:ext cx="1699935" cy="566633"/>
            </a:xfrm>
            <a:prstGeom prst="rect">
              <a:avLst/>
            </a:prstGeom>
          </p:spPr>
          <p:txBody>
            <a:bodyPr anchor="t" rtlCol="false" tIns="0" lIns="0" bIns="0" rIns="0"/>
            <a:lstStyle/>
            <a:p>
              <a:pPr algn="ctr">
                <a:lnSpc>
                  <a:spcPts val="3219"/>
                </a:lnSpc>
              </a:pPr>
              <a:r>
                <a:rPr lang="en-US" sz="2299">
                  <a:solidFill>
                    <a:srgbClr val="000000"/>
                  </a:solidFill>
                  <a:latin typeface="Baskerville Display PT"/>
                  <a:ea typeface="Baskerville Display PT"/>
                  <a:cs typeface="Baskerville Display PT"/>
                  <a:sym typeface="Baskerville Display PT"/>
                </a:rPr>
                <a:t>MISSION</a:t>
              </a:r>
            </a:p>
          </p:txBody>
        </p:sp>
      </p:grpSp>
      <p:grpSp>
        <p:nvGrpSpPr>
          <p:cNvPr name="Group 17" id="17"/>
          <p:cNvGrpSpPr/>
          <p:nvPr/>
        </p:nvGrpSpPr>
        <p:grpSpPr>
          <a:xfrm rot="0">
            <a:off x="1619547" y="3733800"/>
            <a:ext cx="9642099" cy="1573478"/>
            <a:chOff x="0" y="0"/>
            <a:chExt cx="12856132" cy="2097971"/>
          </a:xfrm>
        </p:grpSpPr>
        <p:sp>
          <p:nvSpPr>
            <p:cNvPr name="Freeform 18" id="18"/>
            <p:cNvSpPr/>
            <p:nvPr/>
          </p:nvSpPr>
          <p:spPr>
            <a:xfrm flipH="false" flipV="false" rot="0">
              <a:off x="0" y="0"/>
              <a:ext cx="12856132" cy="2097971"/>
            </a:xfrm>
            <a:custGeom>
              <a:avLst/>
              <a:gdLst/>
              <a:ahLst/>
              <a:cxnLst/>
              <a:rect r="r" b="b" t="t" l="l"/>
              <a:pathLst>
                <a:path h="2097971" w="12856132">
                  <a:moveTo>
                    <a:pt x="0" y="0"/>
                  </a:moveTo>
                  <a:lnTo>
                    <a:pt x="12856132" y="0"/>
                  </a:lnTo>
                  <a:lnTo>
                    <a:pt x="12856132" y="2097971"/>
                  </a:lnTo>
                  <a:lnTo>
                    <a:pt x="0" y="2097971"/>
                  </a:lnTo>
                  <a:close/>
                </a:path>
              </a:pathLst>
            </a:custGeom>
            <a:solidFill>
              <a:srgbClr val="000000">
                <a:alpha val="0"/>
              </a:srgbClr>
            </a:solidFill>
          </p:spPr>
        </p:sp>
        <p:sp>
          <p:nvSpPr>
            <p:cNvPr name="TextBox 19" id="19"/>
            <p:cNvSpPr txBox="true"/>
            <p:nvPr/>
          </p:nvSpPr>
          <p:spPr>
            <a:xfrm>
              <a:off x="0" y="-28575"/>
              <a:ext cx="12856132" cy="2126546"/>
            </a:xfrm>
            <a:prstGeom prst="rect">
              <a:avLst/>
            </a:prstGeom>
          </p:spPr>
          <p:txBody>
            <a:bodyPr anchor="t" rtlCol="false" tIns="0" lIns="0" bIns="0" rIns="0"/>
            <a:lstStyle/>
            <a:p>
              <a:pPr algn="ctr">
                <a:lnSpc>
                  <a:spcPts val="2508"/>
                </a:lnSpc>
              </a:pPr>
              <a:r>
                <a:rPr lang="en-US" sz="1791">
                  <a:solidFill>
                    <a:srgbClr val="000000"/>
                  </a:solidFill>
                  <a:latin typeface="Canva Sans"/>
                  <a:ea typeface="Canva Sans"/>
                  <a:cs typeface="Canva Sans"/>
                  <a:sym typeface="Canva Sans"/>
                </a:rPr>
                <a:t> "At Joyful Rose Delights, our mission is to spread joy and happiness through our freshly baked goods. We believe that every bite can bring a smile, and our goal is to share this happiness with as many people as possible by crafting treats that are not only delicious but also made with love and care."</a:t>
              </a:r>
            </a:p>
            <a:p>
              <a:pPr algn="ctr">
                <a:lnSpc>
                  <a:spcPts val="2508"/>
                </a:lnSpc>
              </a:pPr>
            </a:p>
          </p:txBody>
        </p:sp>
      </p:grpSp>
      <p:grpSp>
        <p:nvGrpSpPr>
          <p:cNvPr name="Group 20" id="20"/>
          <p:cNvGrpSpPr/>
          <p:nvPr/>
        </p:nvGrpSpPr>
        <p:grpSpPr>
          <a:xfrm rot="0">
            <a:off x="1961814" y="5784799"/>
            <a:ext cx="8632580" cy="1153795"/>
            <a:chOff x="0" y="0"/>
            <a:chExt cx="11510107" cy="1538393"/>
          </a:xfrm>
        </p:grpSpPr>
        <p:sp>
          <p:nvSpPr>
            <p:cNvPr name="Freeform 21" id="21"/>
            <p:cNvSpPr/>
            <p:nvPr/>
          </p:nvSpPr>
          <p:spPr>
            <a:xfrm flipH="false" flipV="false" rot="0">
              <a:off x="0" y="0"/>
              <a:ext cx="11510107" cy="1538393"/>
            </a:xfrm>
            <a:custGeom>
              <a:avLst/>
              <a:gdLst/>
              <a:ahLst/>
              <a:cxnLst/>
              <a:rect r="r" b="b" t="t" l="l"/>
              <a:pathLst>
                <a:path h="1538393" w="11510107">
                  <a:moveTo>
                    <a:pt x="0" y="0"/>
                  </a:moveTo>
                  <a:lnTo>
                    <a:pt x="11510107" y="0"/>
                  </a:lnTo>
                  <a:lnTo>
                    <a:pt x="11510107" y="1538393"/>
                  </a:lnTo>
                  <a:lnTo>
                    <a:pt x="0" y="1538393"/>
                  </a:lnTo>
                  <a:close/>
                </a:path>
              </a:pathLst>
            </a:custGeom>
            <a:solidFill>
              <a:srgbClr val="000000">
                <a:alpha val="0"/>
              </a:srgbClr>
            </a:solidFill>
          </p:spPr>
        </p:sp>
        <p:sp>
          <p:nvSpPr>
            <p:cNvPr name="TextBox 22" id="22"/>
            <p:cNvSpPr txBox="true"/>
            <p:nvPr/>
          </p:nvSpPr>
          <p:spPr>
            <a:xfrm>
              <a:off x="0" y="-38100"/>
              <a:ext cx="11510107" cy="1576493"/>
            </a:xfrm>
            <a:prstGeom prst="rect">
              <a:avLst/>
            </a:prstGeom>
          </p:spPr>
          <p:txBody>
            <a:bodyPr anchor="t" rtlCol="false" tIns="0" lIns="0" bIns="0" rIns="0"/>
            <a:lstStyle/>
            <a:p>
              <a:pPr algn="ctr">
                <a:lnSpc>
                  <a:spcPts val="3078"/>
                </a:lnSpc>
              </a:pPr>
              <a:r>
                <a:rPr lang="en-US" sz="2199">
                  <a:solidFill>
                    <a:srgbClr val="000000"/>
                  </a:solidFill>
                  <a:latin typeface="Canva Sans"/>
                  <a:ea typeface="Canva Sans"/>
                  <a:cs typeface="Canva Sans"/>
                  <a:sym typeface="Canva Sans"/>
                </a:rPr>
                <a:t>"To become a household name in our community and beyond, known for creating delightful baked goods that bring people together."</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4675256" y="6794461"/>
            <a:ext cx="2132871" cy="423820"/>
          </a:xfrm>
          <a:custGeom>
            <a:avLst/>
            <a:gdLst/>
            <a:ahLst/>
            <a:cxnLst/>
            <a:rect r="r" b="b" t="t" l="l"/>
            <a:pathLst>
              <a:path h="423820" w="2132871">
                <a:moveTo>
                  <a:pt x="0" y="0"/>
                </a:moveTo>
                <a:lnTo>
                  <a:pt x="2132870" y="0"/>
                </a:lnTo>
                <a:lnTo>
                  <a:pt x="2132870" y="423820"/>
                </a:lnTo>
                <a:lnTo>
                  <a:pt x="0" y="423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62000" y="95607"/>
            <a:ext cx="4876800" cy="762554"/>
          </a:xfrm>
          <a:custGeom>
            <a:avLst/>
            <a:gdLst/>
            <a:ahLst/>
            <a:cxnLst/>
            <a:rect r="r" b="b" t="t" l="l"/>
            <a:pathLst>
              <a:path h="762554" w="4876800">
                <a:moveTo>
                  <a:pt x="0" y="0"/>
                </a:moveTo>
                <a:lnTo>
                  <a:pt x="4876800" y="0"/>
                </a:lnTo>
                <a:lnTo>
                  <a:pt x="4876800" y="762554"/>
                </a:lnTo>
                <a:lnTo>
                  <a:pt x="0" y="762554"/>
                </a:lnTo>
                <a:lnTo>
                  <a:pt x="0" y="0"/>
                </a:lnTo>
                <a:close/>
              </a:path>
            </a:pathLst>
          </a:custGeom>
          <a:blipFill>
            <a:blip r:embed="rId4">
              <a:extLst>
                <a:ext uri="{96DAC541-7B7A-43D3-8B79-37D633B846F1}">
                  <asvg:svgBlip xmlns:asvg="http://schemas.microsoft.com/office/drawing/2016/SVG/main" r:embed="rId5"/>
                </a:ext>
              </a:extLst>
            </a:blip>
            <a:stretch>
              <a:fillRect l="0" t="-588" r="0" b="-588"/>
            </a:stretch>
          </a:blipFill>
        </p:spPr>
      </p:sp>
      <p:grpSp>
        <p:nvGrpSpPr>
          <p:cNvPr name="Group 4" id="4"/>
          <p:cNvGrpSpPr/>
          <p:nvPr/>
        </p:nvGrpSpPr>
        <p:grpSpPr>
          <a:xfrm rot="0">
            <a:off x="4675256" y="6858000"/>
            <a:ext cx="1927089" cy="431855"/>
            <a:chOff x="0" y="0"/>
            <a:chExt cx="2076317" cy="465297"/>
          </a:xfrm>
        </p:grpSpPr>
        <p:sp>
          <p:nvSpPr>
            <p:cNvPr name="Freeform 5" id="5"/>
            <p:cNvSpPr/>
            <p:nvPr/>
          </p:nvSpPr>
          <p:spPr>
            <a:xfrm flipH="false" flipV="false" rot="0">
              <a:off x="0" y="0"/>
              <a:ext cx="2076317" cy="465297"/>
            </a:xfrm>
            <a:custGeom>
              <a:avLst/>
              <a:gdLst/>
              <a:ahLst/>
              <a:cxnLst/>
              <a:rect r="r" b="b" t="t" l="l"/>
              <a:pathLst>
                <a:path h="465297" w="2076317">
                  <a:moveTo>
                    <a:pt x="0" y="0"/>
                  </a:moveTo>
                  <a:lnTo>
                    <a:pt x="2076317" y="0"/>
                  </a:lnTo>
                  <a:lnTo>
                    <a:pt x="2076317" y="465297"/>
                  </a:lnTo>
                  <a:lnTo>
                    <a:pt x="0" y="465297"/>
                  </a:lnTo>
                  <a:close/>
                </a:path>
              </a:pathLst>
            </a:custGeom>
            <a:solidFill>
              <a:srgbClr val="000000">
                <a:alpha val="0"/>
              </a:srgbClr>
            </a:solidFill>
          </p:spPr>
        </p:sp>
        <p:sp>
          <p:nvSpPr>
            <p:cNvPr name="TextBox 6" id="6"/>
            <p:cNvSpPr txBox="true"/>
            <p:nvPr/>
          </p:nvSpPr>
          <p:spPr>
            <a:xfrm>
              <a:off x="0" y="-38100"/>
              <a:ext cx="2076317" cy="503397"/>
            </a:xfrm>
            <a:prstGeom prst="rect">
              <a:avLst/>
            </a:prstGeom>
          </p:spPr>
          <p:txBody>
            <a:bodyPr anchor="t" rtlCol="false" tIns="0" lIns="0" bIns="0" rIns="0"/>
            <a:lstStyle/>
            <a:p>
              <a:pPr algn="ctr">
                <a:lnSpc>
                  <a:spcPts val="2520"/>
                </a:lnSpc>
              </a:pPr>
              <a:r>
                <a:rPr lang="en-US" sz="1800" b="true">
                  <a:solidFill>
                    <a:srgbClr val="5B5247"/>
                  </a:solidFill>
                  <a:latin typeface="Baskerville Display PT Bold"/>
                  <a:ea typeface="Baskerville Display PT Bold"/>
                  <a:cs typeface="Baskerville Display PT Bold"/>
                  <a:sym typeface="Baskerville Display PT Bold"/>
                </a:rPr>
                <a:t>TASTE  </a:t>
              </a:r>
              <a:r>
                <a:rPr lang="en-US" sz="1800" b="true">
                  <a:solidFill>
                    <a:srgbClr val="5B5247"/>
                  </a:solidFill>
                  <a:latin typeface="Baskerville Display PT Bold"/>
                  <a:ea typeface="Baskerville Display PT Bold"/>
                  <a:cs typeface="Baskerville Display PT Bold"/>
                  <a:sym typeface="Baskerville Display PT Bold"/>
                </a:rPr>
                <a:t>NOW</a:t>
              </a:r>
            </a:p>
          </p:txBody>
        </p:sp>
      </p:grpSp>
      <p:grpSp>
        <p:nvGrpSpPr>
          <p:cNvPr name="Group 7" id="7"/>
          <p:cNvGrpSpPr/>
          <p:nvPr/>
        </p:nvGrpSpPr>
        <p:grpSpPr>
          <a:xfrm rot="0">
            <a:off x="762000" y="115569"/>
            <a:ext cx="4199487" cy="646431"/>
            <a:chOff x="0" y="0"/>
            <a:chExt cx="5599316" cy="861908"/>
          </a:xfrm>
        </p:grpSpPr>
        <p:sp>
          <p:nvSpPr>
            <p:cNvPr name="Freeform 8" id="8"/>
            <p:cNvSpPr/>
            <p:nvPr/>
          </p:nvSpPr>
          <p:spPr>
            <a:xfrm flipH="false" flipV="false" rot="0">
              <a:off x="0" y="0"/>
              <a:ext cx="5599316" cy="861908"/>
            </a:xfrm>
            <a:custGeom>
              <a:avLst/>
              <a:gdLst/>
              <a:ahLst/>
              <a:cxnLst/>
              <a:rect r="r" b="b" t="t" l="l"/>
              <a:pathLst>
                <a:path h="861908" w="5599316">
                  <a:moveTo>
                    <a:pt x="0" y="0"/>
                  </a:moveTo>
                  <a:lnTo>
                    <a:pt x="5599316" y="0"/>
                  </a:lnTo>
                  <a:lnTo>
                    <a:pt x="5599316" y="861908"/>
                  </a:lnTo>
                  <a:lnTo>
                    <a:pt x="0" y="861908"/>
                  </a:lnTo>
                  <a:close/>
                </a:path>
              </a:pathLst>
            </a:custGeom>
            <a:solidFill>
              <a:srgbClr val="000000">
                <a:alpha val="0"/>
              </a:srgbClr>
            </a:solidFill>
          </p:spPr>
        </p:sp>
        <p:sp>
          <p:nvSpPr>
            <p:cNvPr name="TextBox 9" id="9"/>
            <p:cNvSpPr txBox="true"/>
            <p:nvPr/>
          </p:nvSpPr>
          <p:spPr>
            <a:xfrm>
              <a:off x="0" y="-76200"/>
              <a:ext cx="5599316" cy="938108"/>
            </a:xfrm>
            <a:prstGeom prst="rect">
              <a:avLst/>
            </a:prstGeom>
          </p:spPr>
          <p:txBody>
            <a:bodyPr anchor="t" rtlCol="false" tIns="0" lIns="0" bIns="0" rIns="0"/>
            <a:lstStyle/>
            <a:p>
              <a:pPr algn="ctr">
                <a:lnSpc>
                  <a:spcPts val="5319"/>
                </a:lnSpc>
              </a:pPr>
              <a:r>
                <a:rPr lang="en-US" sz="3799" b="true">
                  <a:solidFill>
                    <a:srgbClr val="000000"/>
                  </a:solidFill>
                  <a:latin typeface="Baskerville Display PT Bold"/>
                  <a:ea typeface="Baskerville Display PT Bold"/>
                  <a:cs typeface="Baskerville Display PT Bold"/>
                  <a:sym typeface="Baskerville Display PT Bold"/>
                </a:rPr>
                <a:t>OUR PRODUCTS</a:t>
              </a:r>
            </a:p>
          </p:txBody>
        </p:sp>
      </p:grpSp>
      <p:sp>
        <p:nvSpPr>
          <p:cNvPr name="Freeform 10" id="10"/>
          <p:cNvSpPr/>
          <p:nvPr/>
        </p:nvSpPr>
        <p:spPr>
          <a:xfrm flipH="false" flipV="false" rot="0">
            <a:off x="593882" y="1210282"/>
            <a:ext cx="1700529" cy="1692027"/>
          </a:xfrm>
          <a:custGeom>
            <a:avLst/>
            <a:gdLst/>
            <a:ahLst/>
            <a:cxnLst/>
            <a:rect r="r" b="b" t="t" l="l"/>
            <a:pathLst>
              <a:path h="1692027" w="1700529">
                <a:moveTo>
                  <a:pt x="0" y="0"/>
                </a:moveTo>
                <a:lnTo>
                  <a:pt x="1700529" y="0"/>
                </a:lnTo>
                <a:lnTo>
                  <a:pt x="1700529" y="1692027"/>
                </a:lnTo>
                <a:lnTo>
                  <a:pt x="0" y="1692027"/>
                </a:lnTo>
                <a:lnTo>
                  <a:pt x="0" y="0"/>
                </a:lnTo>
                <a:close/>
              </a:path>
            </a:pathLst>
          </a:custGeom>
          <a:blipFill>
            <a:blip r:embed="rId6"/>
            <a:stretch>
              <a:fillRect l="0" t="-17082" r="0" b="-17082"/>
            </a:stretch>
          </a:blipFill>
        </p:spPr>
      </p:sp>
      <p:sp>
        <p:nvSpPr>
          <p:cNvPr name="Freeform 11" id="11"/>
          <p:cNvSpPr/>
          <p:nvPr/>
        </p:nvSpPr>
        <p:spPr>
          <a:xfrm flipH="false" flipV="false" rot="-5336523">
            <a:off x="2305674" y="1229938"/>
            <a:ext cx="1694410" cy="1685938"/>
          </a:xfrm>
          <a:custGeom>
            <a:avLst/>
            <a:gdLst/>
            <a:ahLst/>
            <a:cxnLst/>
            <a:rect r="r" b="b" t="t" l="l"/>
            <a:pathLst>
              <a:path h="1685938" w="1694410">
                <a:moveTo>
                  <a:pt x="0" y="0"/>
                </a:moveTo>
                <a:lnTo>
                  <a:pt x="1694410" y="0"/>
                </a:lnTo>
                <a:lnTo>
                  <a:pt x="1694410" y="1685938"/>
                </a:lnTo>
                <a:lnTo>
                  <a:pt x="0" y="1685938"/>
                </a:lnTo>
                <a:lnTo>
                  <a:pt x="0" y="0"/>
                </a:lnTo>
                <a:close/>
              </a:path>
            </a:pathLst>
          </a:custGeom>
          <a:blipFill>
            <a:blip r:embed="rId7"/>
            <a:stretch>
              <a:fillRect l="-16413" t="0" r="-16413" b="0"/>
            </a:stretch>
          </a:blipFill>
        </p:spPr>
      </p:sp>
      <p:sp>
        <p:nvSpPr>
          <p:cNvPr name="Freeform 12" id="12"/>
          <p:cNvSpPr/>
          <p:nvPr/>
        </p:nvSpPr>
        <p:spPr>
          <a:xfrm flipH="false" flipV="false" rot="0">
            <a:off x="8176138" y="966090"/>
            <a:ext cx="3463516" cy="1650468"/>
          </a:xfrm>
          <a:custGeom>
            <a:avLst/>
            <a:gdLst/>
            <a:ahLst/>
            <a:cxnLst/>
            <a:rect r="r" b="b" t="t" l="l"/>
            <a:pathLst>
              <a:path h="1650468" w="3463516">
                <a:moveTo>
                  <a:pt x="0" y="0"/>
                </a:moveTo>
                <a:lnTo>
                  <a:pt x="3463516" y="0"/>
                </a:lnTo>
                <a:lnTo>
                  <a:pt x="3463516" y="1650469"/>
                </a:lnTo>
                <a:lnTo>
                  <a:pt x="0" y="1650469"/>
                </a:lnTo>
                <a:lnTo>
                  <a:pt x="0" y="0"/>
                </a:lnTo>
                <a:close/>
              </a:path>
            </a:pathLst>
          </a:custGeom>
          <a:blipFill>
            <a:blip r:embed="rId8"/>
            <a:stretch>
              <a:fillRect l="0" t="-20377" r="-8185" b="-49893"/>
            </a:stretch>
          </a:blipFill>
        </p:spPr>
      </p:sp>
      <p:sp>
        <p:nvSpPr>
          <p:cNvPr name="Freeform 13" id="13"/>
          <p:cNvSpPr/>
          <p:nvPr/>
        </p:nvSpPr>
        <p:spPr>
          <a:xfrm flipH="false" flipV="false" rot="0">
            <a:off x="4243191" y="3915221"/>
            <a:ext cx="3293983" cy="1852865"/>
          </a:xfrm>
          <a:custGeom>
            <a:avLst/>
            <a:gdLst/>
            <a:ahLst/>
            <a:cxnLst/>
            <a:rect r="r" b="b" t="t" l="l"/>
            <a:pathLst>
              <a:path h="1852865" w="3293983">
                <a:moveTo>
                  <a:pt x="0" y="0"/>
                </a:moveTo>
                <a:lnTo>
                  <a:pt x="3293983" y="0"/>
                </a:lnTo>
                <a:lnTo>
                  <a:pt x="3293983" y="1852866"/>
                </a:lnTo>
                <a:lnTo>
                  <a:pt x="0" y="1852866"/>
                </a:lnTo>
                <a:lnTo>
                  <a:pt x="0" y="0"/>
                </a:lnTo>
                <a:close/>
              </a:path>
            </a:pathLst>
          </a:custGeom>
          <a:blipFill>
            <a:blip r:embed="rId9"/>
            <a:stretch>
              <a:fillRect l="0" t="0" r="0" b="0"/>
            </a:stretch>
          </a:blipFill>
        </p:spPr>
      </p:sp>
      <p:sp>
        <p:nvSpPr>
          <p:cNvPr name="Freeform 14" id="14"/>
          <p:cNvSpPr/>
          <p:nvPr/>
        </p:nvSpPr>
        <p:spPr>
          <a:xfrm flipH="false" flipV="false" rot="0">
            <a:off x="5139812" y="1120476"/>
            <a:ext cx="1912376" cy="2185146"/>
          </a:xfrm>
          <a:custGeom>
            <a:avLst/>
            <a:gdLst/>
            <a:ahLst/>
            <a:cxnLst/>
            <a:rect r="r" b="b" t="t" l="l"/>
            <a:pathLst>
              <a:path h="2185146" w="1912376">
                <a:moveTo>
                  <a:pt x="0" y="0"/>
                </a:moveTo>
                <a:lnTo>
                  <a:pt x="1912376" y="0"/>
                </a:lnTo>
                <a:lnTo>
                  <a:pt x="1912376" y="2185145"/>
                </a:lnTo>
                <a:lnTo>
                  <a:pt x="0" y="2185145"/>
                </a:lnTo>
                <a:lnTo>
                  <a:pt x="0" y="0"/>
                </a:lnTo>
                <a:close/>
              </a:path>
            </a:pathLst>
          </a:custGeom>
          <a:blipFill>
            <a:blip r:embed="rId10"/>
            <a:stretch>
              <a:fillRect l="0" t="-7466" r="0" b="-7466"/>
            </a:stretch>
          </a:blipFill>
        </p:spPr>
      </p:sp>
      <p:sp>
        <p:nvSpPr>
          <p:cNvPr name="Freeform 15" id="15"/>
          <p:cNvSpPr/>
          <p:nvPr/>
        </p:nvSpPr>
        <p:spPr>
          <a:xfrm flipH="false" flipV="false" rot="0">
            <a:off x="593882" y="3867596"/>
            <a:ext cx="2558997" cy="1699703"/>
          </a:xfrm>
          <a:custGeom>
            <a:avLst/>
            <a:gdLst/>
            <a:ahLst/>
            <a:cxnLst/>
            <a:rect r="r" b="b" t="t" l="l"/>
            <a:pathLst>
              <a:path h="1699703" w="2558997">
                <a:moveTo>
                  <a:pt x="0" y="0"/>
                </a:moveTo>
                <a:lnTo>
                  <a:pt x="2558997" y="0"/>
                </a:lnTo>
                <a:lnTo>
                  <a:pt x="2558997" y="1699703"/>
                </a:lnTo>
                <a:lnTo>
                  <a:pt x="0" y="1699703"/>
                </a:lnTo>
                <a:lnTo>
                  <a:pt x="0" y="0"/>
                </a:lnTo>
                <a:close/>
              </a:path>
            </a:pathLst>
          </a:custGeom>
          <a:blipFill>
            <a:blip r:embed="rId11"/>
            <a:stretch>
              <a:fillRect l="0" t="0" r="0" b="0"/>
            </a:stretch>
          </a:blipFill>
        </p:spPr>
      </p:sp>
      <p:sp>
        <p:nvSpPr>
          <p:cNvPr name="Freeform 16" id="16"/>
          <p:cNvSpPr/>
          <p:nvPr/>
        </p:nvSpPr>
        <p:spPr>
          <a:xfrm flipH="false" flipV="false" rot="0">
            <a:off x="9080995" y="3315885"/>
            <a:ext cx="2332386" cy="3051539"/>
          </a:xfrm>
          <a:custGeom>
            <a:avLst/>
            <a:gdLst/>
            <a:ahLst/>
            <a:cxnLst/>
            <a:rect r="r" b="b" t="t" l="l"/>
            <a:pathLst>
              <a:path h="3051539" w="2332386">
                <a:moveTo>
                  <a:pt x="0" y="0"/>
                </a:moveTo>
                <a:lnTo>
                  <a:pt x="2332386" y="0"/>
                </a:lnTo>
                <a:lnTo>
                  <a:pt x="2332386" y="3051538"/>
                </a:lnTo>
                <a:lnTo>
                  <a:pt x="0" y="3051538"/>
                </a:lnTo>
                <a:lnTo>
                  <a:pt x="0" y="0"/>
                </a:lnTo>
                <a:close/>
              </a:path>
            </a:pathLst>
          </a:custGeom>
          <a:blipFill>
            <a:blip r:embed="rId12"/>
            <a:stretch>
              <a:fillRect l="0" t="0" r="0" b="0"/>
            </a:stretch>
          </a:blipFill>
        </p:spPr>
      </p:sp>
      <p:sp>
        <p:nvSpPr>
          <p:cNvPr name="TextBox 17" id="17"/>
          <p:cNvSpPr txBox="true"/>
          <p:nvPr/>
        </p:nvSpPr>
        <p:spPr>
          <a:xfrm rot="0">
            <a:off x="477926" y="3162746"/>
            <a:ext cx="3293983" cy="257175"/>
          </a:xfrm>
          <a:prstGeom prst="rect">
            <a:avLst/>
          </a:prstGeom>
        </p:spPr>
        <p:txBody>
          <a:bodyPr anchor="t" rtlCol="false" tIns="0" lIns="0" bIns="0" rIns="0">
            <a:spAutoFit/>
          </a:bodyPr>
          <a:lstStyle/>
          <a:p>
            <a:pPr algn="ctr">
              <a:lnSpc>
                <a:spcPts val="2100"/>
              </a:lnSpc>
              <a:spcBef>
                <a:spcPct val="0"/>
              </a:spcBef>
            </a:pPr>
            <a:r>
              <a:rPr lang="en-US" sz="1500">
                <a:solidFill>
                  <a:srgbClr val="000000"/>
                </a:solidFill>
                <a:latin typeface="Baskerville Display PT"/>
                <a:ea typeface="Baskerville Display PT"/>
                <a:cs typeface="Baskerville Display PT"/>
                <a:sym typeface="Baskerville Display PT"/>
              </a:rPr>
              <a:t>customized cakes</a:t>
            </a:r>
          </a:p>
        </p:txBody>
      </p:sp>
      <p:sp>
        <p:nvSpPr>
          <p:cNvPr name="TextBox 18" id="18"/>
          <p:cNvSpPr txBox="true"/>
          <p:nvPr/>
        </p:nvSpPr>
        <p:spPr>
          <a:xfrm rot="0">
            <a:off x="4905800" y="3391346"/>
            <a:ext cx="3293983" cy="257175"/>
          </a:xfrm>
          <a:prstGeom prst="rect">
            <a:avLst/>
          </a:prstGeom>
        </p:spPr>
        <p:txBody>
          <a:bodyPr anchor="t" rtlCol="false" tIns="0" lIns="0" bIns="0" rIns="0">
            <a:spAutoFit/>
          </a:bodyPr>
          <a:lstStyle/>
          <a:p>
            <a:pPr algn="ctr">
              <a:lnSpc>
                <a:spcPts val="2100"/>
              </a:lnSpc>
              <a:spcBef>
                <a:spcPct val="0"/>
              </a:spcBef>
            </a:pPr>
            <a:r>
              <a:rPr lang="en-US" sz="1500">
                <a:solidFill>
                  <a:srgbClr val="000000"/>
                </a:solidFill>
                <a:latin typeface="Baskerville Display PT"/>
                <a:ea typeface="Baskerville Display PT"/>
                <a:cs typeface="Baskerville Display PT"/>
                <a:sym typeface="Baskerville Display PT"/>
              </a:rPr>
              <a:t>chocomoist cake</a:t>
            </a:r>
          </a:p>
        </p:txBody>
      </p:sp>
      <p:sp>
        <p:nvSpPr>
          <p:cNvPr name="TextBox 19" id="19"/>
          <p:cNvSpPr txBox="true"/>
          <p:nvPr/>
        </p:nvSpPr>
        <p:spPr>
          <a:xfrm rot="0">
            <a:off x="8345671" y="2601510"/>
            <a:ext cx="3293983" cy="257175"/>
          </a:xfrm>
          <a:prstGeom prst="rect">
            <a:avLst/>
          </a:prstGeom>
        </p:spPr>
        <p:txBody>
          <a:bodyPr anchor="t" rtlCol="false" tIns="0" lIns="0" bIns="0" rIns="0">
            <a:spAutoFit/>
          </a:bodyPr>
          <a:lstStyle/>
          <a:p>
            <a:pPr algn="ctr">
              <a:lnSpc>
                <a:spcPts val="2100"/>
              </a:lnSpc>
              <a:spcBef>
                <a:spcPct val="0"/>
              </a:spcBef>
            </a:pPr>
            <a:r>
              <a:rPr lang="en-US" sz="1500">
                <a:solidFill>
                  <a:srgbClr val="000000"/>
                </a:solidFill>
                <a:latin typeface="Baskerville Display PT"/>
                <a:ea typeface="Baskerville Display PT"/>
                <a:cs typeface="Baskerville Display PT"/>
                <a:sym typeface="Baskerville Display PT"/>
              </a:rPr>
              <a:t>swiss rolls </a:t>
            </a:r>
          </a:p>
        </p:txBody>
      </p:sp>
      <p:sp>
        <p:nvSpPr>
          <p:cNvPr name="TextBox 20" id="20"/>
          <p:cNvSpPr txBox="true"/>
          <p:nvPr/>
        </p:nvSpPr>
        <p:spPr>
          <a:xfrm rot="0">
            <a:off x="4243191" y="5739512"/>
            <a:ext cx="3293983" cy="257175"/>
          </a:xfrm>
          <a:prstGeom prst="rect">
            <a:avLst/>
          </a:prstGeom>
        </p:spPr>
        <p:txBody>
          <a:bodyPr anchor="t" rtlCol="false" tIns="0" lIns="0" bIns="0" rIns="0">
            <a:spAutoFit/>
          </a:bodyPr>
          <a:lstStyle/>
          <a:p>
            <a:pPr algn="ctr">
              <a:lnSpc>
                <a:spcPts val="2100"/>
              </a:lnSpc>
              <a:spcBef>
                <a:spcPct val="0"/>
              </a:spcBef>
            </a:pPr>
            <a:r>
              <a:rPr lang="en-US" sz="1500">
                <a:solidFill>
                  <a:srgbClr val="000000"/>
                </a:solidFill>
                <a:latin typeface="Baskerville Display PT"/>
                <a:ea typeface="Baskerville Display PT"/>
                <a:cs typeface="Baskerville Display PT"/>
                <a:sym typeface="Baskerville Display PT"/>
              </a:rPr>
              <a:t>mango float</a:t>
            </a:r>
          </a:p>
        </p:txBody>
      </p:sp>
      <p:sp>
        <p:nvSpPr>
          <p:cNvPr name="TextBox 21" id="21"/>
          <p:cNvSpPr txBox="true"/>
          <p:nvPr/>
        </p:nvSpPr>
        <p:spPr>
          <a:xfrm rot="0">
            <a:off x="226389" y="5795899"/>
            <a:ext cx="3293983" cy="257175"/>
          </a:xfrm>
          <a:prstGeom prst="rect">
            <a:avLst/>
          </a:prstGeom>
        </p:spPr>
        <p:txBody>
          <a:bodyPr anchor="t" rtlCol="false" tIns="0" lIns="0" bIns="0" rIns="0">
            <a:spAutoFit/>
          </a:bodyPr>
          <a:lstStyle/>
          <a:p>
            <a:pPr algn="ctr">
              <a:lnSpc>
                <a:spcPts val="2100"/>
              </a:lnSpc>
              <a:spcBef>
                <a:spcPct val="0"/>
              </a:spcBef>
            </a:pPr>
            <a:r>
              <a:rPr lang="en-US" sz="1500">
                <a:solidFill>
                  <a:srgbClr val="000000"/>
                </a:solidFill>
                <a:latin typeface="Baskerville Display PT"/>
                <a:ea typeface="Baskerville Display PT"/>
                <a:cs typeface="Baskerville Display PT"/>
                <a:sym typeface="Baskerville Display PT"/>
              </a:rPr>
              <a:t>chiffon cake</a:t>
            </a:r>
          </a:p>
        </p:txBody>
      </p:sp>
      <p:sp>
        <p:nvSpPr>
          <p:cNvPr name="TextBox 22" id="22"/>
          <p:cNvSpPr txBox="true"/>
          <p:nvPr/>
        </p:nvSpPr>
        <p:spPr>
          <a:xfrm rot="0">
            <a:off x="9080995" y="6338848"/>
            <a:ext cx="2332386" cy="257175"/>
          </a:xfrm>
          <a:prstGeom prst="rect">
            <a:avLst/>
          </a:prstGeom>
        </p:spPr>
        <p:txBody>
          <a:bodyPr anchor="t" rtlCol="false" tIns="0" lIns="0" bIns="0" rIns="0">
            <a:spAutoFit/>
          </a:bodyPr>
          <a:lstStyle/>
          <a:p>
            <a:pPr algn="ctr">
              <a:lnSpc>
                <a:spcPts val="2100"/>
              </a:lnSpc>
              <a:spcBef>
                <a:spcPct val="0"/>
              </a:spcBef>
            </a:pPr>
            <a:r>
              <a:rPr lang="en-US" sz="1500">
                <a:solidFill>
                  <a:srgbClr val="000000"/>
                </a:solidFill>
                <a:latin typeface="Baskerville Display PT"/>
                <a:ea typeface="Baskerville Display PT"/>
                <a:cs typeface="Baskerville Display PT"/>
                <a:sym typeface="Baskerville Display PT"/>
              </a:rPr>
              <a:t>munchkins bal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762000" y="95607"/>
            <a:ext cx="4876800" cy="762554"/>
          </a:xfrm>
          <a:custGeom>
            <a:avLst/>
            <a:gdLst/>
            <a:ahLst/>
            <a:cxnLst/>
            <a:rect r="r" b="b" t="t" l="l"/>
            <a:pathLst>
              <a:path h="762554" w="4876800">
                <a:moveTo>
                  <a:pt x="0" y="0"/>
                </a:moveTo>
                <a:lnTo>
                  <a:pt x="4876800" y="0"/>
                </a:lnTo>
                <a:lnTo>
                  <a:pt x="4876800" y="762554"/>
                </a:lnTo>
                <a:lnTo>
                  <a:pt x="0" y="762554"/>
                </a:lnTo>
                <a:lnTo>
                  <a:pt x="0" y="0"/>
                </a:lnTo>
                <a:close/>
              </a:path>
            </a:pathLst>
          </a:custGeom>
          <a:blipFill>
            <a:blip r:embed="rId2">
              <a:extLst>
                <a:ext uri="{96DAC541-7B7A-43D3-8B79-37D633B846F1}">
                  <asvg:svgBlip xmlns:asvg="http://schemas.microsoft.com/office/drawing/2016/SVG/main" r:embed="rId3"/>
                </a:ext>
              </a:extLst>
            </a:blip>
            <a:stretch>
              <a:fillRect l="0" t="-588" r="0" b="-588"/>
            </a:stretch>
          </a:blipFill>
        </p:spPr>
      </p:sp>
      <p:grpSp>
        <p:nvGrpSpPr>
          <p:cNvPr name="Group 3" id="3"/>
          <p:cNvGrpSpPr/>
          <p:nvPr/>
        </p:nvGrpSpPr>
        <p:grpSpPr>
          <a:xfrm rot="0">
            <a:off x="762000" y="115569"/>
            <a:ext cx="4199487" cy="709157"/>
            <a:chOff x="0" y="0"/>
            <a:chExt cx="5599316" cy="945542"/>
          </a:xfrm>
        </p:grpSpPr>
        <p:sp>
          <p:nvSpPr>
            <p:cNvPr name="Freeform 4" id="4"/>
            <p:cNvSpPr/>
            <p:nvPr/>
          </p:nvSpPr>
          <p:spPr>
            <a:xfrm flipH="false" flipV="false" rot="0">
              <a:off x="0" y="0"/>
              <a:ext cx="5599316" cy="945542"/>
            </a:xfrm>
            <a:custGeom>
              <a:avLst/>
              <a:gdLst/>
              <a:ahLst/>
              <a:cxnLst/>
              <a:rect r="r" b="b" t="t" l="l"/>
              <a:pathLst>
                <a:path h="945542" w="5599316">
                  <a:moveTo>
                    <a:pt x="0" y="0"/>
                  </a:moveTo>
                  <a:lnTo>
                    <a:pt x="5599316" y="0"/>
                  </a:lnTo>
                  <a:lnTo>
                    <a:pt x="5599316" y="945542"/>
                  </a:lnTo>
                  <a:lnTo>
                    <a:pt x="0" y="945542"/>
                  </a:lnTo>
                  <a:close/>
                </a:path>
              </a:pathLst>
            </a:custGeom>
            <a:solidFill>
              <a:srgbClr val="000000">
                <a:alpha val="0"/>
              </a:srgbClr>
            </a:solidFill>
          </p:spPr>
        </p:sp>
        <p:sp>
          <p:nvSpPr>
            <p:cNvPr name="TextBox 5" id="5"/>
            <p:cNvSpPr txBox="true"/>
            <p:nvPr/>
          </p:nvSpPr>
          <p:spPr>
            <a:xfrm>
              <a:off x="0" y="-76200"/>
              <a:ext cx="5599316" cy="1021742"/>
            </a:xfrm>
            <a:prstGeom prst="rect">
              <a:avLst/>
            </a:prstGeom>
          </p:spPr>
          <p:txBody>
            <a:bodyPr anchor="t" rtlCol="false" tIns="0" lIns="0" bIns="0" rIns="0"/>
            <a:lstStyle/>
            <a:p>
              <a:pPr algn="ctr">
                <a:lnSpc>
                  <a:spcPts val="5319"/>
                </a:lnSpc>
              </a:pPr>
              <a:r>
                <a:rPr lang="en-US" sz="3799" b="true">
                  <a:solidFill>
                    <a:srgbClr val="000000"/>
                  </a:solidFill>
                  <a:latin typeface="Baskerville Display PT Bold"/>
                  <a:ea typeface="Baskerville Display PT Bold"/>
                  <a:cs typeface="Baskerville Display PT Bold"/>
                  <a:sym typeface="Baskerville Display PT Bold"/>
                </a:rPr>
                <a:t>TESTIMONIALS</a:t>
              </a:r>
            </a:p>
          </p:txBody>
        </p:sp>
      </p:grpSp>
      <p:sp>
        <p:nvSpPr>
          <p:cNvPr name="Freeform 6" id="6"/>
          <p:cNvSpPr/>
          <p:nvPr/>
        </p:nvSpPr>
        <p:spPr>
          <a:xfrm flipH="false" flipV="false" rot="0">
            <a:off x="508894" y="1357928"/>
            <a:ext cx="1379290" cy="2452072"/>
          </a:xfrm>
          <a:custGeom>
            <a:avLst/>
            <a:gdLst/>
            <a:ahLst/>
            <a:cxnLst/>
            <a:rect r="r" b="b" t="t" l="l"/>
            <a:pathLst>
              <a:path h="2452072" w="1379290">
                <a:moveTo>
                  <a:pt x="0" y="0"/>
                </a:moveTo>
                <a:lnTo>
                  <a:pt x="1379290" y="0"/>
                </a:lnTo>
                <a:lnTo>
                  <a:pt x="1379290" y="2452072"/>
                </a:lnTo>
                <a:lnTo>
                  <a:pt x="0" y="2452072"/>
                </a:lnTo>
                <a:lnTo>
                  <a:pt x="0" y="0"/>
                </a:lnTo>
                <a:close/>
              </a:path>
            </a:pathLst>
          </a:custGeom>
          <a:blipFill>
            <a:blip r:embed="rId4"/>
            <a:stretch>
              <a:fillRect l="0" t="0" r="0" b="0"/>
            </a:stretch>
          </a:blipFill>
        </p:spPr>
      </p:sp>
      <p:sp>
        <p:nvSpPr>
          <p:cNvPr name="Freeform 7" id="7"/>
          <p:cNvSpPr/>
          <p:nvPr/>
        </p:nvSpPr>
        <p:spPr>
          <a:xfrm flipH="false" flipV="false" rot="0">
            <a:off x="2216697" y="1147864"/>
            <a:ext cx="1539231" cy="3181078"/>
          </a:xfrm>
          <a:custGeom>
            <a:avLst/>
            <a:gdLst/>
            <a:ahLst/>
            <a:cxnLst/>
            <a:rect r="r" b="b" t="t" l="l"/>
            <a:pathLst>
              <a:path h="3181078" w="1539231">
                <a:moveTo>
                  <a:pt x="0" y="0"/>
                </a:moveTo>
                <a:lnTo>
                  <a:pt x="1539232" y="0"/>
                </a:lnTo>
                <a:lnTo>
                  <a:pt x="1539232" y="3181077"/>
                </a:lnTo>
                <a:lnTo>
                  <a:pt x="0" y="3181077"/>
                </a:lnTo>
                <a:lnTo>
                  <a:pt x="0" y="0"/>
                </a:lnTo>
                <a:close/>
              </a:path>
            </a:pathLst>
          </a:custGeom>
          <a:blipFill>
            <a:blip r:embed="rId5"/>
            <a:stretch>
              <a:fillRect l="0" t="0" r="0" b="0"/>
            </a:stretch>
          </a:blipFill>
        </p:spPr>
      </p:sp>
      <p:sp>
        <p:nvSpPr>
          <p:cNvPr name="Freeform 8" id="8"/>
          <p:cNvSpPr/>
          <p:nvPr/>
        </p:nvSpPr>
        <p:spPr>
          <a:xfrm flipH="false" flipV="false" rot="0">
            <a:off x="4237565" y="1147864"/>
            <a:ext cx="2802471" cy="2441782"/>
          </a:xfrm>
          <a:custGeom>
            <a:avLst/>
            <a:gdLst/>
            <a:ahLst/>
            <a:cxnLst/>
            <a:rect r="r" b="b" t="t" l="l"/>
            <a:pathLst>
              <a:path h="2441782" w="2802471">
                <a:moveTo>
                  <a:pt x="0" y="0"/>
                </a:moveTo>
                <a:lnTo>
                  <a:pt x="2802470" y="0"/>
                </a:lnTo>
                <a:lnTo>
                  <a:pt x="2802470" y="2441782"/>
                </a:lnTo>
                <a:lnTo>
                  <a:pt x="0" y="2441782"/>
                </a:lnTo>
                <a:lnTo>
                  <a:pt x="0" y="0"/>
                </a:lnTo>
                <a:close/>
              </a:path>
            </a:pathLst>
          </a:custGeom>
          <a:blipFill>
            <a:blip r:embed="rId6"/>
            <a:stretch>
              <a:fillRect l="0" t="0" r="0" b="0"/>
            </a:stretch>
          </a:blipFill>
        </p:spPr>
      </p:sp>
      <p:sp>
        <p:nvSpPr>
          <p:cNvPr name="Freeform 9" id="9"/>
          <p:cNvSpPr/>
          <p:nvPr/>
        </p:nvSpPr>
        <p:spPr>
          <a:xfrm flipH="false" flipV="false" rot="0">
            <a:off x="8078621" y="912528"/>
            <a:ext cx="1880365" cy="3342872"/>
          </a:xfrm>
          <a:custGeom>
            <a:avLst/>
            <a:gdLst/>
            <a:ahLst/>
            <a:cxnLst/>
            <a:rect r="r" b="b" t="t" l="l"/>
            <a:pathLst>
              <a:path h="3342872" w="1880365">
                <a:moveTo>
                  <a:pt x="0" y="0"/>
                </a:moveTo>
                <a:lnTo>
                  <a:pt x="1880365" y="0"/>
                </a:lnTo>
                <a:lnTo>
                  <a:pt x="1880365" y="3342872"/>
                </a:lnTo>
                <a:lnTo>
                  <a:pt x="0" y="3342872"/>
                </a:lnTo>
                <a:lnTo>
                  <a:pt x="0" y="0"/>
                </a:lnTo>
                <a:close/>
              </a:path>
            </a:pathLst>
          </a:custGeom>
          <a:blipFill>
            <a:blip r:embed="rId7"/>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1324615" y="3212091"/>
            <a:ext cx="7358884" cy="1195819"/>
          </a:xfrm>
          <a:custGeom>
            <a:avLst/>
            <a:gdLst/>
            <a:ahLst/>
            <a:cxnLst/>
            <a:rect r="r" b="b" t="t" l="l"/>
            <a:pathLst>
              <a:path h="1195819" w="7358884">
                <a:moveTo>
                  <a:pt x="0" y="0"/>
                </a:moveTo>
                <a:lnTo>
                  <a:pt x="7358885" y="0"/>
                </a:lnTo>
                <a:lnTo>
                  <a:pt x="7358885" y="1195818"/>
                </a:lnTo>
                <a:lnTo>
                  <a:pt x="0" y="1195818"/>
                </a:lnTo>
                <a:lnTo>
                  <a:pt x="0" y="0"/>
                </a:lnTo>
                <a:close/>
              </a:path>
            </a:pathLst>
          </a:custGeom>
          <a:blipFill>
            <a:blip r:embed="rId2">
              <a:alphaModFix amt="55000"/>
            </a:blip>
            <a:stretch>
              <a:fillRect l="0" t="0" r="0" b="0"/>
            </a:stretch>
          </a:blipFill>
        </p:spPr>
      </p:sp>
      <p:grpSp>
        <p:nvGrpSpPr>
          <p:cNvPr name="Group 3" id="3"/>
          <p:cNvGrpSpPr/>
          <p:nvPr/>
        </p:nvGrpSpPr>
        <p:grpSpPr>
          <a:xfrm rot="0">
            <a:off x="5525208" y="-171874"/>
            <a:ext cx="6923156" cy="7996186"/>
            <a:chOff x="0" y="0"/>
            <a:chExt cx="2902172" cy="3351983"/>
          </a:xfrm>
        </p:grpSpPr>
        <p:sp>
          <p:nvSpPr>
            <p:cNvPr name="Freeform 4" id="4"/>
            <p:cNvSpPr/>
            <p:nvPr/>
          </p:nvSpPr>
          <p:spPr>
            <a:xfrm flipH="false" flipV="false" rot="0">
              <a:off x="0" y="0"/>
              <a:ext cx="2902172" cy="3351983"/>
            </a:xfrm>
            <a:custGeom>
              <a:avLst/>
              <a:gdLst/>
              <a:ahLst/>
              <a:cxnLst/>
              <a:rect r="r" b="b" t="t" l="l"/>
              <a:pathLst>
                <a:path h="3351983" w="2902172">
                  <a:moveTo>
                    <a:pt x="0" y="0"/>
                  </a:moveTo>
                  <a:lnTo>
                    <a:pt x="2902172" y="0"/>
                  </a:lnTo>
                  <a:lnTo>
                    <a:pt x="2902172" y="3351983"/>
                  </a:lnTo>
                  <a:lnTo>
                    <a:pt x="0" y="3351983"/>
                  </a:lnTo>
                  <a:close/>
                </a:path>
              </a:pathLst>
            </a:custGeom>
            <a:solidFill>
              <a:srgbClr val="F5F5F5"/>
            </a:solidFill>
            <a:ln cap="sq">
              <a:noFill/>
              <a:prstDash val="solid"/>
              <a:miter/>
            </a:ln>
          </p:spPr>
        </p:sp>
        <p:sp>
          <p:nvSpPr>
            <p:cNvPr name="TextBox 5" id="5"/>
            <p:cNvSpPr txBox="true"/>
            <p:nvPr/>
          </p:nvSpPr>
          <p:spPr>
            <a:xfrm>
              <a:off x="0" y="-85725"/>
              <a:ext cx="2902172" cy="3437708"/>
            </a:xfrm>
            <a:prstGeom prst="rect">
              <a:avLst/>
            </a:prstGeom>
          </p:spPr>
          <p:txBody>
            <a:bodyPr anchor="ctr" rtlCol="false" tIns="50800" lIns="50800" bIns="50800" rIns="50800"/>
            <a:lstStyle/>
            <a:p>
              <a:pPr algn="ctr">
                <a:lnSpc>
                  <a:spcPts val="2208"/>
                </a:lnSpc>
              </a:pPr>
            </a:p>
          </p:txBody>
        </p:sp>
      </p:grpSp>
      <p:sp>
        <p:nvSpPr>
          <p:cNvPr name="Freeform 6" id="6"/>
          <p:cNvSpPr/>
          <p:nvPr/>
        </p:nvSpPr>
        <p:spPr>
          <a:xfrm flipH="false" flipV="false" rot="0">
            <a:off x="6692450" y="6792189"/>
            <a:ext cx="3982099" cy="647091"/>
          </a:xfrm>
          <a:custGeom>
            <a:avLst/>
            <a:gdLst/>
            <a:ahLst/>
            <a:cxnLst/>
            <a:rect r="r" b="b" t="t" l="l"/>
            <a:pathLst>
              <a:path h="647091" w="3982099">
                <a:moveTo>
                  <a:pt x="0" y="0"/>
                </a:moveTo>
                <a:lnTo>
                  <a:pt x="3982099" y="0"/>
                </a:lnTo>
                <a:lnTo>
                  <a:pt x="3982099" y="647091"/>
                </a:lnTo>
                <a:lnTo>
                  <a:pt x="0" y="647091"/>
                </a:lnTo>
                <a:lnTo>
                  <a:pt x="0" y="0"/>
                </a:lnTo>
                <a:close/>
              </a:path>
            </a:pathLst>
          </a:custGeom>
          <a:blipFill>
            <a:blip r:embed="rId2">
              <a:alphaModFix amt="55000"/>
            </a:blip>
            <a:stretch>
              <a:fillRect l="0" t="0" r="0" b="0"/>
            </a:stretch>
          </a:blipFill>
        </p:spPr>
      </p:sp>
      <p:grpSp>
        <p:nvGrpSpPr>
          <p:cNvPr name="Group 7" id="7"/>
          <p:cNvGrpSpPr/>
          <p:nvPr/>
        </p:nvGrpSpPr>
        <p:grpSpPr>
          <a:xfrm rot="0">
            <a:off x="6096000" y="6431084"/>
            <a:ext cx="5334000" cy="426916"/>
            <a:chOff x="0" y="0"/>
            <a:chExt cx="1086199" cy="86936"/>
          </a:xfrm>
        </p:grpSpPr>
        <p:sp>
          <p:nvSpPr>
            <p:cNvPr name="Freeform 8" id="8"/>
            <p:cNvSpPr/>
            <p:nvPr/>
          </p:nvSpPr>
          <p:spPr>
            <a:xfrm flipH="false" flipV="false" rot="0">
              <a:off x="0" y="0"/>
              <a:ext cx="1086199" cy="86936"/>
            </a:xfrm>
            <a:custGeom>
              <a:avLst/>
              <a:gdLst/>
              <a:ahLst/>
              <a:cxnLst/>
              <a:rect r="r" b="b" t="t" l="l"/>
              <a:pathLst>
                <a:path h="86936" w="1086199">
                  <a:moveTo>
                    <a:pt x="43468" y="0"/>
                  </a:moveTo>
                  <a:lnTo>
                    <a:pt x="1042732" y="0"/>
                  </a:lnTo>
                  <a:cubicBezTo>
                    <a:pt x="1054260" y="0"/>
                    <a:pt x="1065316" y="4580"/>
                    <a:pt x="1073468" y="12731"/>
                  </a:cubicBezTo>
                  <a:cubicBezTo>
                    <a:pt x="1081620" y="20883"/>
                    <a:pt x="1086199" y="31940"/>
                    <a:pt x="1086199" y="43468"/>
                  </a:cubicBezTo>
                  <a:lnTo>
                    <a:pt x="1086199" y="43468"/>
                  </a:lnTo>
                  <a:cubicBezTo>
                    <a:pt x="1086199" y="54996"/>
                    <a:pt x="1081620" y="66053"/>
                    <a:pt x="1073468" y="74204"/>
                  </a:cubicBezTo>
                  <a:cubicBezTo>
                    <a:pt x="1065316" y="82356"/>
                    <a:pt x="1054260" y="86936"/>
                    <a:pt x="1042732" y="86936"/>
                  </a:cubicBezTo>
                  <a:lnTo>
                    <a:pt x="43468" y="86936"/>
                  </a:lnTo>
                  <a:cubicBezTo>
                    <a:pt x="31940" y="86936"/>
                    <a:pt x="20883" y="82356"/>
                    <a:pt x="12731" y="74204"/>
                  </a:cubicBezTo>
                  <a:cubicBezTo>
                    <a:pt x="4580" y="66053"/>
                    <a:pt x="0" y="54996"/>
                    <a:pt x="0" y="43468"/>
                  </a:cubicBezTo>
                  <a:lnTo>
                    <a:pt x="0" y="43468"/>
                  </a:lnTo>
                  <a:cubicBezTo>
                    <a:pt x="0" y="31940"/>
                    <a:pt x="4580" y="20883"/>
                    <a:pt x="12731" y="12731"/>
                  </a:cubicBezTo>
                  <a:cubicBezTo>
                    <a:pt x="20883" y="4580"/>
                    <a:pt x="31940" y="0"/>
                    <a:pt x="43468" y="0"/>
                  </a:cubicBezTo>
                  <a:close/>
                </a:path>
              </a:pathLst>
            </a:custGeom>
            <a:gradFill rotWithShape="true">
              <a:gsLst>
                <a:gs pos="0">
                  <a:srgbClr val="FFF7AD">
                    <a:alpha val="100000"/>
                  </a:srgbClr>
                </a:gs>
                <a:gs pos="100000">
                  <a:srgbClr val="FFA9F9">
                    <a:alpha val="100000"/>
                  </a:srgbClr>
                </a:gs>
              </a:gsLst>
              <a:lin ang="0"/>
            </a:gradFill>
          </p:spPr>
        </p:sp>
        <p:sp>
          <p:nvSpPr>
            <p:cNvPr name="TextBox 9" id="9"/>
            <p:cNvSpPr txBox="true"/>
            <p:nvPr/>
          </p:nvSpPr>
          <p:spPr>
            <a:xfrm>
              <a:off x="0" y="-57150"/>
              <a:ext cx="1086199" cy="144086"/>
            </a:xfrm>
            <a:prstGeom prst="rect">
              <a:avLst/>
            </a:prstGeom>
          </p:spPr>
          <p:txBody>
            <a:bodyPr anchor="ctr" rtlCol="false" tIns="50800" lIns="50800" bIns="50800" rIns="50800"/>
            <a:lstStyle/>
            <a:p>
              <a:pPr algn="ctr">
                <a:lnSpc>
                  <a:spcPts val="1656"/>
                </a:lnSpc>
              </a:pPr>
            </a:p>
          </p:txBody>
        </p:sp>
      </p:grpSp>
      <p:grpSp>
        <p:nvGrpSpPr>
          <p:cNvPr name="Group 10" id="10"/>
          <p:cNvGrpSpPr/>
          <p:nvPr/>
        </p:nvGrpSpPr>
        <p:grpSpPr>
          <a:xfrm rot="0">
            <a:off x="6432844" y="2736802"/>
            <a:ext cx="4997156" cy="426916"/>
            <a:chOff x="0" y="0"/>
            <a:chExt cx="1017605" cy="86936"/>
          </a:xfrm>
        </p:grpSpPr>
        <p:sp>
          <p:nvSpPr>
            <p:cNvPr name="Freeform 11" id="11"/>
            <p:cNvSpPr/>
            <p:nvPr/>
          </p:nvSpPr>
          <p:spPr>
            <a:xfrm flipH="false" flipV="false" rot="0">
              <a:off x="0" y="0"/>
              <a:ext cx="1017605" cy="86936"/>
            </a:xfrm>
            <a:custGeom>
              <a:avLst/>
              <a:gdLst/>
              <a:ahLst/>
              <a:cxnLst/>
              <a:rect r="r" b="b" t="t" l="l"/>
              <a:pathLst>
                <a:path h="86936" w="1017605">
                  <a:moveTo>
                    <a:pt x="32535" y="0"/>
                  </a:moveTo>
                  <a:lnTo>
                    <a:pt x="985071" y="0"/>
                  </a:lnTo>
                  <a:cubicBezTo>
                    <a:pt x="993700" y="0"/>
                    <a:pt x="1001975" y="3428"/>
                    <a:pt x="1008076" y="9529"/>
                  </a:cubicBezTo>
                  <a:cubicBezTo>
                    <a:pt x="1014178" y="15631"/>
                    <a:pt x="1017605" y="23906"/>
                    <a:pt x="1017605" y="32535"/>
                  </a:cubicBezTo>
                  <a:lnTo>
                    <a:pt x="1017605" y="54401"/>
                  </a:lnTo>
                  <a:cubicBezTo>
                    <a:pt x="1017605" y="72370"/>
                    <a:pt x="1003039" y="86936"/>
                    <a:pt x="985071" y="86936"/>
                  </a:cubicBezTo>
                  <a:lnTo>
                    <a:pt x="32535" y="86936"/>
                  </a:lnTo>
                  <a:cubicBezTo>
                    <a:pt x="14566" y="86936"/>
                    <a:pt x="0" y="72370"/>
                    <a:pt x="0" y="54401"/>
                  </a:cubicBezTo>
                  <a:lnTo>
                    <a:pt x="0" y="32535"/>
                  </a:lnTo>
                  <a:cubicBezTo>
                    <a:pt x="0" y="14566"/>
                    <a:pt x="14566" y="0"/>
                    <a:pt x="32535" y="0"/>
                  </a:cubicBezTo>
                  <a:close/>
                </a:path>
              </a:pathLst>
            </a:custGeom>
            <a:solidFill>
              <a:srgbClr val="FFFFFF"/>
            </a:solidFill>
          </p:spPr>
        </p:sp>
        <p:sp>
          <p:nvSpPr>
            <p:cNvPr name="TextBox 12" id="12"/>
            <p:cNvSpPr txBox="true"/>
            <p:nvPr/>
          </p:nvSpPr>
          <p:spPr>
            <a:xfrm>
              <a:off x="0" y="-57150"/>
              <a:ext cx="1017605" cy="144086"/>
            </a:xfrm>
            <a:prstGeom prst="rect">
              <a:avLst/>
            </a:prstGeom>
          </p:spPr>
          <p:txBody>
            <a:bodyPr anchor="ctr" rtlCol="false" tIns="50800" lIns="50800" bIns="50800" rIns="50800"/>
            <a:lstStyle/>
            <a:p>
              <a:pPr algn="ctr">
                <a:lnSpc>
                  <a:spcPts val="1656"/>
                </a:lnSpc>
              </a:pPr>
            </a:p>
          </p:txBody>
        </p:sp>
      </p:grpSp>
      <p:grpSp>
        <p:nvGrpSpPr>
          <p:cNvPr name="Group 13" id="13"/>
          <p:cNvGrpSpPr/>
          <p:nvPr/>
        </p:nvGrpSpPr>
        <p:grpSpPr>
          <a:xfrm rot="0">
            <a:off x="6432844" y="1884544"/>
            <a:ext cx="4997156" cy="426916"/>
            <a:chOff x="0" y="0"/>
            <a:chExt cx="1017605" cy="86936"/>
          </a:xfrm>
        </p:grpSpPr>
        <p:sp>
          <p:nvSpPr>
            <p:cNvPr name="Freeform 14" id="14"/>
            <p:cNvSpPr/>
            <p:nvPr/>
          </p:nvSpPr>
          <p:spPr>
            <a:xfrm flipH="false" flipV="false" rot="0">
              <a:off x="0" y="0"/>
              <a:ext cx="1017605" cy="86936"/>
            </a:xfrm>
            <a:custGeom>
              <a:avLst/>
              <a:gdLst/>
              <a:ahLst/>
              <a:cxnLst/>
              <a:rect r="r" b="b" t="t" l="l"/>
              <a:pathLst>
                <a:path h="86936" w="1017605">
                  <a:moveTo>
                    <a:pt x="32535" y="0"/>
                  </a:moveTo>
                  <a:lnTo>
                    <a:pt x="985071" y="0"/>
                  </a:lnTo>
                  <a:cubicBezTo>
                    <a:pt x="993700" y="0"/>
                    <a:pt x="1001975" y="3428"/>
                    <a:pt x="1008076" y="9529"/>
                  </a:cubicBezTo>
                  <a:cubicBezTo>
                    <a:pt x="1014178" y="15631"/>
                    <a:pt x="1017605" y="23906"/>
                    <a:pt x="1017605" y="32535"/>
                  </a:cubicBezTo>
                  <a:lnTo>
                    <a:pt x="1017605" y="54401"/>
                  </a:lnTo>
                  <a:cubicBezTo>
                    <a:pt x="1017605" y="72370"/>
                    <a:pt x="1003039" y="86936"/>
                    <a:pt x="985071" y="86936"/>
                  </a:cubicBezTo>
                  <a:lnTo>
                    <a:pt x="32535" y="86936"/>
                  </a:lnTo>
                  <a:cubicBezTo>
                    <a:pt x="14566" y="86936"/>
                    <a:pt x="0" y="72370"/>
                    <a:pt x="0" y="54401"/>
                  </a:cubicBezTo>
                  <a:lnTo>
                    <a:pt x="0" y="32535"/>
                  </a:lnTo>
                  <a:cubicBezTo>
                    <a:pt x="0" y="14566"/>
                    <a:pt x="14566" y="0"/>
                    <a:pt x="32535" y="0"/>
                  </a:cubicBezTo>
                  <a:close/>
                </a:path>
              </a:pathLst>
            </a:custGeom>
            <a:solidFill>
              <a:srgbClr val="FFFFFF"/>
            </a:solidFill>
          </p:spPr>
        </p:sp>
        <p:sp>
          <p:nvSpPr>
            <p:cNvPr name="TextBox 15" id="15"/>
            <p:cNvSpPr txBox="true"/>
            <p:nvPr/>
          </p:nvSpPr>
          <p:spPr>
            <a:xfrm>
              <a:off x="0" y="-57150"/>
              <a:ext cx="1017605" cy="144086"/>
            </a:xfrm>
            <a:prstGeom prst="rect">
              <a:avLst/>
            </a:prstGeom>
          </p:spPr>
          <p:txBody>
            <a:bodyPr anchor="ctr" rtlCol="false" tIns="50800" lIns="50800" bIns="50800" rIns="50800"/>
            <a:lstStyle/>
            <a:p>
              <a:pPr algn="ctr">
                <a:lnSpc>
                  <a:spcPts val="1656"/>
                </a:lnSpc>
              </a:pPr>
            </a:p>
          </p:txBody>
        </p:sp>
      </p:grpSp>
      <p:grpSp>
        <p:nvGrpSpPr>
          <p:cNvPr name="Group 16" id="16"/>
          <p:cNvGrpSpPr/>
          <p:nvPr/>
        </p:nvGrpSpPr>
        <p:grpSpPr>
          <a:xfrm rot="0">
            <a:off x="6432844" y="3641052"/>
            <a:ext cx="4997156" cy="426916"/>
            <a:chOff x="0" y="0"/>
            <a:chExt cx="1017605" cy="86936"/>
          </a:xfrm>
        </p:grpSpPr>
        <p:sp>
          <p:nvSpPr>
            <p:cNvPr name="Freeform 17" id="17"/>
            <p:cNvSpPr/>
            <p:nvPr/>
          </p:nvSpPr>
          <p:spPr>
            <a:xfrm flipH="false" flipV="false" rot="0">
              <a:off x="0" y="0"/>
              <a:ext cx="1017605" cy="86936"/>
            </a:xfrm>
            <a:custGeom>
              <a:avLst/>
              <a:gdLst/>
              <a:ahLst/>
              <a:cxnLst/>
              <a:rect r="r" b="b" t="t" l="l"/>
              <a:pathLst>
                <a:path h="86936" w="1017605">
                  <a:moveTo>
                    <a:pt x="32535" y="0"/>
                  </a:moveTo>
                  <a:lnTo>
                    <a:pt x="985071" y="0"/>
                  </a:lnTo>
                  <a:cubicBezTo>
                    <a:pt x="993700" y="0"/>
                    <a:pt x="1001975" y="3428"/>
                    <a:pt x="1008076" y="9529"/>
                  </a:cubicBezTo>
                  <a:cubicBezTo>
                    <a:pt x="1014178" y="15631"/>
                    <a:pt x="1017605" y="23906"/>
                    <a:pt x="1017605" y="32535"/>
                  </a:cubicBezTo>
                  <a:lnTo>
                    <a:pt x="1017605" y="54401"/>
                  </a:lnTo>
                  <a:cubicBezTo>
                    <a:pt x="1017605" y="72370"/>
                    <a:pt x="1003039" y="86936"/>
                    <a:pt x="985071" y="86936"/>
                  </a:cubicBezTo>
                  <a:lnTo>
                    <a:pt x="32535" y="86936"/>
                  </a:lnTo>
                  <a:cubicBezTo>
                    <a:pt x="14566" y="86936"/>
                    <a:pt x="0" y="72370"/>
                    <a:pt x="0" y="54401"/>
                  </a:cubicBezTo>
                  <a:lnTo>
                    <a:pt x="0" y="32535"/>
                  </a:lnTo>
                  <a:cubicBezTo>
                    <a:pt x="0" y="14566"/>
                    <a:pt x="14566" y="0"/>
                    <a:pt x="32535" y="0"/>
                  </a:cubicBezTo>
                  <a:close/>
                </a:path>
              </a:pathLst>
            </a:custGeom>
            <a:solidFill>
              <a:srgbClr val="FFFFFF"/>
            </a:solidFill>
          </p:spPr>
        </p:sp>
        <p:sp>
          <p:nvSpPr>
            <p:cNvPr name="TextBox 18" id="18"/>
            <p:cNvSpPr txBox="true"/>
            <p:nvPr/>
          </p:nvSpPr>
          <p:spPr>
            <a:xfrm>
              <a:off x="0" y="-57150"/>
              <a:ext cx="1017605" cy="144086"/>
            </a:xfrm>
            <a:prstGeom prst="rect">
              <a:avLst/>
            </a:prstGeom>
          </p:spPr>
          <p:txBody>
            <a:bodyPr anchor="ctr" rtlCol="false" tIns="50800" lIns="50800" bIns="50800" rIns="50800"/>
            <a:lstStyle/>
            <a:p>
              <a:pPr algn="ctr">
                <a:lnSpc>
                  <a:spcPts val="1656"/>
                </a:lnSpc>
              </a:pPr>
            </a:p>
          </p:txBody>
        </p:sp>
      </p:grpSp>
      <p:grpSp>
        <p:nvGrpSpPr>
          <p:cNvPr name="Group 19" id="19"/>
          <p:cNvGrpSpPr/>
          <p:nvPr/>
        </p:nvGrpSpPr>
        <p:grpSpPr>
          <a:xfrm rot="0">
            <a:off x="6432844" y="4540935"/>
            <a:ext cx="4997156" cy="1594030"/>
            <a:chOff x="0" y="0"/>
            <a:chExt cx="1017605" cy="324603"/>
          </a:xfrm>
        </p:grpSpPr>
        <p:sp>
          <p:nvSpPr>
            <p:cNvPr name="Freeform 20" id="20"/>
            <p:cNvSpPr/>
            <p:nvPr/>
          </p:nvSpPr>
          <p:spPr>
            <a:xfrm flipH="false" flipV="false" rot="0">
              <a:off x="0" y="0"/>
              <a:ext cx="1017605" cy="324603"/>
            </a:xfrm>
            <a:custGeom>
              <a:avLst/>
              <a:gdLst/>
              <a:ahLst/>
              <a:cxnLst/>
              <a:rect r="r" b="b" t="t" l="l"/>
              <a:pathLst>
                <a:path h="324603" w="1017605">
                  <a:moveTo>
                    <a:pt x="32535" y="0"/>
                  </a:moveTo>
                  <a:lnTo>
                    <a:pt x="985071" y="0"/>
                  </a:lnTo>
                  <a:cubicBezTo>
                    <a:pt x="993700" y="0"/>
                    <a:pt x="1001975" y="3428"/>
                    <a:pt x="1008076" y="9529"/>
                  </a:cubicBezTo>
                  <a:cubicBezTo>
                    <a:pt x="1014178" y="15631"/>
                    <a:pt x="1017605" y="23906"/>
                    <a:pt x="1017605" y="32535"/>
                  </a:cubicBezTo>
                  <a:lnTo>
                    <a:pt x="1017605" y="292069"/>
                  </a:lnTo>
                  <a:cubicBezTo>
                    <a:pt x="1017605" y="310037"/>
                    <a:pt x="1003039" y="324603"/>
                    <a:pt x="985071" y="324603"/>
                  </a:cubicBezTo>
                  <a:lnTo>
                    <a:pt x="32535" y="324603"/>
                  </a:lnTo>
                  <a:cubicBezTo>
                    <a:pt x="14566" y="324603"/>
                    <a:pt x="0" y="310037"/>
                    <a:pt x="0" y="292069"/>
                  </a:cubicBezTo>
                  <a:lnTo>
                    <a:pt x="0" y="32535"/>
                  </a:lnTo>
                  <a:cubicBezTo>
                    <a:pt x="0" y="14566"/>
                    <a:pt x="14566" y="0"/>
                    <a:pt x="32535" y="0"/>
                  </a:cubicBezTo>
                  <a:close/>
                </a:path>
              </a:pathLst>
            </a:custGeom>
            <a:solidFill>
              <a:srgbClr val="FFFFFF"/>
            </a:solidFill>
          </p:spPr>
        </p:sp>
        <p:sp>
          <p:nvSpPr>
            <p:cNvPr name="TextBox 21" id="21"/>
            <p:cNvSpPr txBox="true"/>
            <p:nvPr/>
          </p:nvSpPr>
          <p:spPr>
            <a:xfrm>
              <a:off x="0" y="-57150"/>
              <a:ext cx="1017605" cy="381753"/>
            </a:xfrm>
            <a:prstGeom prst="rect">
              <a:avLst/>
            </a:prstGeom>
          </p:spPr>
          <p:txBody>
            <a:bodyPr anchor="ctr" rtlCol="false" tIns="50800" lIns="50800" bIns="50800" rIns="50800"/>
            <a:lstStyle/>
            <a:p>
              <a:pPr algn="ctr">
                <a:lnSpc>
                  <a:spcPts val="1656"/>
                </a:lnSpc>
              </a:pPr>
            </a:p>
          </p:txBody>
        </p:sp>
      </p:grpSp>
      <p:grpSp>
        <p:nvGrpSpPr>
          <p:cNvPr name="Group 22" id="22"/>
          <p:cNvGrpSpPr/>
          <p:nvPr/>
        </p:nvGrpSpPr>
        <p:grpSpPr>
          <a:xfrm rot="0">
            <a:off x="6830692" y="762000"/>
            <a:ext cx="4599308" cy="540722"/>
            <a:chOff x="0" y="0"/>
            <a:chExt cx="955396" cy="112322"/>
          </a:xfrm>
        </p:grpSpPr>
        <p:sp>
          <p:nvSpPr>
            <p:cNvPr name="Freeform 23" id="23"/>
            <p:cNvSpPr/>
            <p:nvPr/>
          </p:nvSpPr>
          <p:spPr>
            <a:xfrm flipH="false" flipV="false" rot="0">
              <a:off x="0" y="0"/>
              <a:ext cx="955396" cy="112322"/>
            </a:xfrm>
            <a:custGeom>
              <a:avLst/>
              <a:gdLst/>
              <a:ahLst/>
              <a:cxnLst/>
              <a:rect r="r" b="b" t="t" l="l"/>
              <a:pathLst>
                <a:path h="112322" w="955396">
                  <a:moveTo>
                    <a:pt x="56161" y="0"/>
                  </a:moveTo>
                  <a:lnTo>
                    <a:pt x="899235" y="0"/>
                  </a:lnTo>
                  <a:cubicBezTo>
                    <a:pt x="914130" y="0"/>
                    <a:pt x="928415" y="5917"/>
                    <a:pt x="938947" y="16449"/>
                  </a:cubicBezTo>
                  <a:cubicBezTo>
                    <a:pt x="949479" y="26981"/>
                    <a:pt x="955396" y="41266"/>
                    <a:pt x="955396" y="56161"/>
                  </a:cubicBezTo>
                  <a:lnTo>
                    <a:pt x="955396" y="56161"/>
                  </a:lnTo>
                  <a:cubicBezTo>
                    <a:pt x="955396" y="71056"/>
                    <a:pt x="949479" y="85341"/>
                    <a:pt x="938947" y="95873"/>
                  </a:cubicBezTo>
                  <a:cubicBezTo>
                    <a:pt x="928415" y="106405"/>
                    <a:pt x="914130" y="112322"/>
                    <a:pt x="899235" y="112322"/>
                  </a:cubicBezTo>
                  <a:lnTo>
                    <a:pt x="56161" y="112322"/>
                  </a:lnTo>
                  <a:cubicBezTo>
                    <a:pt x="41266" y="112322"/>
                    <a:pt x="26981" y="106405"/>
                    <a:pt x="16449" y="95873"/>
                  </a:cubicBezTo>
                  <a:cubicBezTo>
                    <a:pt x="5917" y="85341"/>
                    <a:pt x="0" y="71056"/>
                    <a:pt x="0" y="56161"/>
                  </a:cubicBezTo>
                  <a:lnTo>
                    <a:pt x="0" y="56161"/>
                  </a:lnTo>
                  <a:cubicBezTo>
                    <a:pt x="0" y="41266"/>
                    <a:pt x="5917" y="26981"/>
                    <a:pt x="16449" y="16449"/>
                  </a:cubicBezTo>
                  <a:cubicBezTo>
                    <a:pt x="26981" y="5917"/>
                    <a:pt x="41266" y="0"/>
                    <a:pt x="56161" y="0"/>
                  </a:cubicBezTo>
                  <a:close/>
                </a:path>
              </a:pathLst>
            </a:custGeom>
            <a:gradFill rotWithShape="true">
              <a:gsLst>
                <a:gs pos="0">
                  <a:srgbClr val="FFF7AD">
                    <a:alpha val="100000"/>
                  </a:srgbClr>
                </a:gs>
                <a:gs pos="100000">
                  <a:srgbClr val="FFA9F9">
                    <a:alpha val="100000"/>
                  </a:srgbClr>
                </a:gs>
              </a:gsLst>
              <a:lin ang="0"/>
            </a:gradFill>
            <a:ln cap="rnd">
              <a:noFill/>
              <a:prstDash val="solid"/>
              <a:round/>
            </a:ln>
          </p:spPr>
        </p:sp>
        <p:sp>
          <p:nvSpPr>
            <p:cNvPr name="TextBox 24" id="24"/>
            <p:cNvSpPr txBox="true"/>
            <p:nvPr/>
          </p:nvSpPr>
          <p:spPr>
            <a:xfrm>
              <a:off x="0" y="-57150"/>
              <a:ext cx="955396" cy="169472"/>
            </a:xfrm>
            <a:prstGeom prst="rect">
              <a:avLst/>
            </a:prstGeom>
          </p:spPr>
          <p:txBody>
            <a:bodyPr anchor="ctr" rtlCol="false" tIns="50800" lIns="50800" bIns="50800" rIns="50800"/>
            <a:lstStyle/>
            <a:p>
              <a:pPr algn="ctr" marL="0" indent="0" lvl="0">
                <a:lnSpc>
                  <a:spcPts val="1656"/>
                </a:lnSpc>
                <a:spcBef>
                  <a:spcPct val="0"/>
                </a:spcBef>
              </a:pPr>
            </a:p>
          </p:txBody>
        </p:sp>
      </p:grpSp>
      <p:sp>
        <p:nvSpPr>
          <p:cNvPr name="Freeform 25" id="25"/>
          <p:cNvSpPr/>
          <p:nvPr/>
        </p:nvSpPr>
        <p:spPr>
          <a:xfrm flipH="false" flipV="false" rot="0">
            <a:off x="10925367" y="840183"/>
            <a:ext cx="208317" cy="224701"/>
          </a:xfrm>
          <a:custGeom>
            <a:avLst/>
            <a:gdLst/>
            <a:ahLst/>
            <a:cxnLst/>
            <a:rect r="r" b="b" t="t" l="l"/>
            <a:pathLst>
              <a:path h="224701" w="208317">
                <a:moveTo>
                  <a:pt x="0" y="0"/>
                </a:moveTo>
                <a:lnTo>
                  <a:pt x="208316" y="0"/>
                </a:lnTo>
                <a:lnTo>
                  <a:pt x="208316" y="224701"/>
                </a:lnTo>
                <a:lnTo>
                  <a:pt x="0" y="2247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6" id="26"/>
          <p:cNvSpPr txBox="true"/>
          <p:nvPr/>
        </p:nvSpPr>
        <p:spPr>
          <a:xfrm rot="0">
            <a:off x="6432844" y="2349560"/>
            <a:ext cx="1566448" cy="272436"/>
          </a:xfrm>
          <a:prstGeom prst="rect">
            <a:avLst/>
          </a:prstGeom>
        </p:spPr>
        <p:txBody>
          <a:bodyPr anchor="t" rtlCol="false" tIns="0" lIns="0" bIns="0" rIns="0">
            <a:spAutoFit/>
          </a:bodyPr>
          <a:lstStyle/>
          <a:p>
            <a:pPr algn="l" marL="0" indent="0" lvl="0">
              <a:lnSpc>
                <a:spcPts val="2456"/>
              </a:lnSpc>
              <a:spcBef>
                <a:spcPct val="0"/>
              </a:spcBef>
            </a:pPr>
            <a:r>
              <a:rPr lang="en-US" sz="1335">
                <a:solidFill>
                  <a:srgbClr val="000000"/>
                </a:solidFill>
                <a:latin typeface="Garet"/>
                <a:ea typeface="Garet"/>
                <a:cs typeface="Garet"/>
                <a:sym typeface="Garet"/>
              </a:rPr>
              <a:t>E-Mail  :</a:t>
            </a:r>
          </a:p>
        </p:txBody>
      </p:sp>
      <p:sp>
        <p:nvSpPr>
          <p:cNvPr name="TextBox 27" id="27"/>
          <p:cNvSpPr txBox="true"/>
          <p:nvPr/>
        </p:nvSpPr>
        <p:spPr>
          <a:xfrm rot="0">
            <a:off x="6432844" y="1497303"/>
            <a:ext cx="1566448" cy="272436"/>
          </a:xfrm>
          <a:prstGeom prst="rect">
            <a:avLst/>
          </a:prstGeom>
        </p:spPr>
        <p:txBody>
          <a:bodyPr anchor="t" rtlCol="false" tIns="0" lIns="0" bIns="0" rIns="0">
            <a:spAutoFit/>
          </a:bodyPr>
          <a:lstStyle/>
          <a:p>
            <a:pPr algn="l" marL="0" indent="0" lvl="0">
              <a:lnSpc>
                <a:spcPts val="2456"/>
              </a:lnSpc>
              <a:spcBef>
                <a:spcPct val="0"/>
              </a:spcBef>
            </a:pPr>
            <a:r>
              <a:rPr lang="en-US" sz="1335">
                <a:solidFill>
                  <a:srgbClr val="111C4F"/>
                </a:solidFill>
                <a:latin typeface="Garet"/>
                <a:ea typeface="Garet"/>
                <a:cs typeface="Garet"/>
                <a:sym typeface="Garet"/>
              </a:rPr>
              <a:t>Full Name  :</a:t>
            </a:r>
          </a:p>
        </p:txBody>
      </p:sp>
      <p:sp>
        <p:nvSpPr>
          <p:cNvPr name="TextBox 28" id="28"/>
          <p:cNvSpPr txBox="true"/>
          <p:nvPr/>
        </p:nvSpPr>
        <p:spPr>
          <a:xfrm rot="0">
            <a:off x="6432844" y="3295692"/>
            <a:ext cx="1566448" cy="272436"/>
          </a:xfrm>
          <a:prstGeom prst="rect">
            <a:avLst/>
          </a:prstGeom>
        </p:spPr>
        <p:txBody>
          <a:bodyPr anchor="t" rtlCol="false" tIns="0" lIns="0" bIns="0" rIns="0">
            <a:spAutoFit/>
          </a:bodyPr>
          <a:lstStyle/>
          <a:p>
            <a:pPr algn="l" marL="0" indent="0" lvl="0">
              <a:lnSpc>
                <a:spcPts val="2456"/>
              </a:lnSpc>
              <a:spcBef>
                <a:spcPct val="0"/>
              </a:spcBef>
            </a:pPr>
            <a:r>
              <a:rPr lang="en-US" sz="1335">
                <a:solidFill>
                  <a:srgbClr val="000000"/>
                </a:solidFill>
                <a:latin typeface="Garet"/>
                <a:ea typeface="Garet"/>
                <a:cs typeface="Garet"/>
                <a:sym typeface="Garet"/>
              </a:rPr>
              <a:t>Phone Number :</a:t>
            </a:r>
          </a:p>
        </p:txBody>
      </p:sp>
      <p:sp>
        <p:nvSpPr>
          <p:cNvPr name="TextBox 29" id="29"/>
          <p:cNvSpPr txBox="true"/>
          <p:nvPr/>
        </p:nvSpPr>
        <p:spPr>
          <a:xfrm rot="0">
            <a:off x="6432844" y="4153693"/>
            <a:ext cx="1566448" cy="272469"/>
          </a:xfrm>
          <a:prstGeom prst="rect">
            <a:avLst/>
          </a:prstGeom>
        </p:spPr>
        <p:txBody>
          <a:bodyPr anchor="t" rtlCol="false" tIns="0" lIns="0" bIns="0" rIns="0">
            <a:spAutoFit/>
          </a:bodyPr>
          <a:lstStyle/>
          <a:p>
            <a:pPr algn="l" marL="0" indent="0" lvl="0">
              <a:lnSpc>
                <a:spcPts val="2456"/>
              </a:lnSpc>
              <a:spcBef>
                <a:spcPct val="0"/>
              </a:spcBef>
            </a:pPr>
            <a:r>
              <a:rPr lang="en-US" sz="1335">
                <a:solidFill>
                  <a:srgbClr val="000000"/>
                </a:solidFill>
                <a:latin typeface="Garet"/>
                <a:ea typeface="Garet"/>
                <a:cs typeface="Garet"/>
                <a:sym typeface="Garet"/>
              </a:rPr>
              <a:t>Message :</a:t>
            </a:r>
          </a:p>
        </p:txBody>
      </p:sp>
      <p:sp>
        <p:nvSpPr>
          <p:cNvPr name="TextBox 30" id="30"/>
          <p:cNvSpPr txBox="true"/>
          <p:nvPr/>
        </p:nvSpPr>
        <p:spPr>
          <a:xfrm rot="0">
            <a:off x="7600623" y="6357286"/>
            <a:ext cx="2324755" cy="441163"/>
          </a:xfrm>
          <a:prstGeom prst="rect">
            <a:avLst/>
          </a:prstGeom>
        </p:spPr>
        <p:txBody>
          <a:bodyPr anchor="t" rtlCol="false" tIns="0" lIns="0" bIns="0" rIns="0">
            <a:spAutoFit/>
          </a:bodyPr>
          <a:lstStyle/>
          <a:p>
            <a:pPr algn="ctr" marL="0" indent="0" lvl="0">
              <a:lnSpc>
                <a:spcPts val="3813"/>
              </a:lnSpc>
              <a:spcBef>
                <a:spcPct val="0"/>
              </a:spcBef>
            </a:pPr>
            <a:r>
              <a:rPr lang="en-US" b="true" sz="2072">
                <a:solidFill>
                  <a:srgbClr val="000000"/>
                </a:solidFill>
                <a:latin typeface="Garet Bold"/>
                <a:ea typeface="Garet Bold"/>
                <a:cs typeface="Garet Bold"/>
                <a:sym typeface="Garet Bold"/>
              </a:rPr>
              <a:t>Send Messages</a:t>
            </a:r>
          </a:p>
        </p:txBody>
      </p:sp>
      <p:sp>
        <p:nvSpPr>
          <p:cNvPr name="TextBox 31" id="31"/>
          <p:cNvSpPr txBox="true"/>
          <p:nvPr/>
        </p:nvSpPr>
        <p:spPr>
          <a:xfrm rot="0">
            <a:off x="997855" y="1166613"/>
            <a:ext cx="3055573" cy="298634"/>
          </a:xfrm>
          <a:prstGeom prst="rect">
            <a:avLst/>
          </a:prstGeom>
        </p:spPr>
        <p:txBody>
          <a:bodyPr anchor="t" rtlCol="false" tIns="0" lIns="0" bIns="0" rIns="0">
            <a:spAutoFit/>
          </a:bodyPr>
          <a:lstStyle/>
          <a:p>
            <a:pPr algn="l" marL="0" indent="0" lvl="0">
              <a:lnSpc>
                <a:spcPts val="2439"/>
              </a:lnSpc>
            </a:pPr>
            <a:r>
              <a:rPr lang="en-US" sz="1742">
                <a:solidFill>
                  <a:srgbClr val="000000"/>
                </a:solidFill>
                <a:latin typeface="Garet Light"/>
                <a:ea typeface="Garet Light"/>
                <a:cs typeface="Garet Light"/>
                <a:sym typeface="Garet Light"/>
              </a:rPr>
              <a:t>We’re happy  to help you!</a:t>
            </a:r>
          </a:p>
        </p:txBody>
      </p:sp>
      <p:sp>
        <p:nvSpPr>
          <p:cNvPr name="TextBox 32" id="32"/>
          <p:cNvSpPr txBox="true"/>
          <p:nvPr/>
        </p:nvSpPr>
        <p:spPr>
          <a:xfrm rot="0">
            <a:off x="7097373" y="707629"/>
            <a:ext cx="3791080" cy="434953"/>
          </a:xfrm>
          <a:prstGeom prst="rect">
            <a:avLst/>
          </a:prstGeom>
        </p:spPr>
        <p:txBody>
          <a:bodyPr anchor="t" rtlCol="false" tIns="0" lIns="0" bIns="0" rIns="0">
            <a:spAutoFit/>
          </a:bodyPr>
          <a:lstStyle/>
          <a:p>
            <a:pPr algn="ctr" marL="0" indent="0" lvl="0">
              <a:lnSpc>
                <a:spcPts val="3737"/>
              </a:lnSpc>
              <a:spcBef>
                <a:spcPct val="0"/>
              </a:spcBef>
            </a:pPr>
            <a:r>
              <a:rPr lang="en-US" b="true" sz="2031">
                <a:solidFill>
                  <a:srgbClr val="000000"/>
                </a:solidFill>
                <a:latin typeface="Garet Bold"/>
                <a:ea typeface="Garet Bold"/>
                <a:cs typeface="Garet Bold"/>
                <a:sym typeface="Garet Bold"/>
              </a:rPr>
              <a:t>JOYFULROSE DELIGHTS</a:t>
            </a:r>
          </a:p>
        </p:txBody>
      </p:sp>
      <p:sp>
        <p:nvSpPr>
          <p:cNvPr name="TextBox 33" id="33"/>
          <p:cNvSpPr txBox="true"/>
          <p:nvPr/>
        </p:nvSpPr>
        <p:spPr>
          <a:xfrm rot="0">
            <a:off x="762000" y="536738"/>
            <a:ext cx="4447006" cy="665633"/>
          </a:xfrm>
          <a:prstGeom prst="rect">
            <a:avLst/>
          </a:prstGeom>
        </p:spPr>
        <p:txBody>
          <a:bodyPr anchor="t" rtlCol="false" tIns="0" lIns="0" bIns="0" rIns="0">
            <a:spAutoFit/>
          </a:bodyPr>
          <a:lstStyle/>
          <a:p>
            <a:pPr algn="l">
              <a:lnSpc>
                <a:spcPts val="5101"/>
              </a:lnSpc>
            </a:pPr>
            <a:r>
              <a:rPr lang="en-US" b="true" sz="4812">
                <a:solidFill>
                  <a:srgbClr val="000000"/>
                </a:solidFill>
                <a:latin typeface="Garet Bold"/>
                <a:ea typeface="Garet Bold"/>
                <a:cs typeface="Garet Bold"/>
                <a:sym typeface="Garet Bold"/>
              </a:rPr>
              <a:t>CONTACT US</a:t>
            </a:r>
          </a:p>
        </p:txBody>
      </p:sp>
      <p:sp>
        <p:nvSpPr>
          <p:cNvPr name="Freeform 34" id="34"/>
          <p:cNvSpPr/>
          <p:nvPr/>
        </p:nvSpPr>
        <p:spPr>
          <a:xfrm flipH="false" flipV="false" rot="0">
            <a:off x="698876" y="3432228"/>
            <a:ext cx="597958" cy="597958"/>
          </a:xfrm>
          <a:custGeom>
            <a:avLst/>
            <a:gdLst/>
            <a:ahLst/>
            <a:cxnLst/>
            <a:rect r="r" b="b" t="t" l="l"/>
            <a:pathLst>
              <a:path h="597958" w="597958">
                <a:moveTo>
                  <a:pt x="0" y="0"/>
                </a:moveTo>
                <a:lnTo>
                  <a:pt x="597958" y="0"/>
                </a:lnTo>
                <a:lnTo>
                  <a:pt x="597958" y="597957"/>
                </a:lnTo>
                <a:lnTo>
                  <a:pt x="0" y="5979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5" id="35"/>
          <p:cNvSpPr txBox="true"/>
          <p:nvPr/>
        </p:nvSpPr>
        <p:spPr>
          <a:xfrm rot="0">
            <a:off x="1412683" y="3683264"/>
            <a:ext cx="2110737" cy="327153"/>
          </a:xfrm>
          <a:prstGeom prst="rect">
            <a:avLst/>
          </a:prstGeom>
        </p:spPr>
        <p:txBody>
          <a:bodyPr anchor="t" rtlCol="false" tIns="0" lIns="0" bIns="0" rIns="0">
            <a:spAutoFit/>
          </a:bodyPr>
          <a:lstStyle/>
          <a:p>
            <a:pPr algn="l" marL="0" indent="0" lvl="0">
              <a:lnSpc>
                <a:spcPts val="2943"/>
              </a:lnSpc>
              <a:spcBef>
                <a:spcPct val="0"/>
              </a:spcBef>
            </a:pPr>
            <a:r>
              <a:rPr lang="en-US" sz="1599">
                <a:solidFill>
                  <a:srgbClr val="000000"/>
                </a:solidFill>
                <a:latin typeface="Garet Light"/>
                <a:ea typeface="Garet Light"/>
                <a:cs typeface="Garet Light"/>
                <a:sym typeface="Garet Light"/>
              </a:rPr>
              <a:t>+639473540144</a:t>
            </a:r>
          </a:p>
        </p:txBody>
      </p:sp>
      <p:sp>
        <p:nvSpPr>
          <p:cNvPr name="TextBox 36" id="36"/>
          <p:cNvSpPr txBox="true"/>
          <p:nvPr/>
        </p:nvSpPr>
        <p:spPr>
          <a:xfrm rot="0">
            <a:off x="1412683" y="3514419"/>
            <a:ext cx="839236" cy="254570"/>
          </a:xfrm>
          <a:prstGeom prst="rect">
            <a:avLst/>
          </a:prstGeom>
        </p:spPr>
        <p:txBody>
          <a:bodyPr anchor="t" rtlCol="false" tIns="0" lIns="0" bIns="0" rIns="0">
            <a:spAutoFit/>
          </a:bodyPr>
          <a:lstStyle/>
          <a:p>
            <a:pPr algn="l">
              <a:lnSpc>
                <a:spcPts val="1912"/>
              </a:lnSpc>
            </a:pPr>
            <a:r>
              <a:rPr lang="en-US" sz="1803" b="true">
                <a:solidFill>
                  <a:srgbClr val="000000"/>
                </a:solidFill>
                <a:latin typeface="Garet Bold"/>
                <a:ea typeface="Garet Bold"/>
                <a:cs typeface="Garet Bold"/>
                <a:sym typeface="Garet Bold"/>
              </a:rPr>
              <a:t>Phone</a:t>
            </a:r>
          </a:p>
        </p:txBody>
      </p:sp>
      <p:sp>
        <p:nvSpPr>
          <p:cNvPr name="Freeform 37" id="37"/>
          <p:cNvSpPr/>
          <p:nvPr/>
        </p:nvSpPr>
        <p:spPr>
          <a:xfrm flipH="false" flipV="false" rot="0">
            <a:off x="762000" y="5330032"/>
            <a:ext cx="597958" cy="597958"/>
          </a:xfrm>
          <a:custGeom>
            <a:avLst/>
            <a:gdLst/>
            <a:ahLst/>
            <a:cxnLst/>
            <a:rect r="r" b="b" t="t" l="l"/>
            <a:pathLst>
              <a:path h="597958" w="597958">
                <a:moveTo>
                  <a:pt x="0" y="0"/>
                </a:moveTo>
                <a:lnTo>
                  <a:pt x="597958" y="0"/>
                </a:lnTo>
                <a:lnTo>
                  <a:pt x="597958" y="597957"/>
                </a:lnTo>
                <a:lnTo>
                  <a:pt x="0" y="5979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8" id="38"/>
          <p:cNvSpPr txBox="true"/>
          <p:nvPr/>
        </p:nvSpPr>
        <p:spPr>
          <a:xfrm rot="0">
            <a:off x="1412683" y="5569049"/>
            <a:ext cx="2993465" cy="327153"/>
          </a:xfrm>
          <a:prstGeom prst="rect">
            <a:avLst/>
          </a:prstGeom>
        </p:spPr>
        <p:txBody>
          <a:bodyPr anchor="t" rtlCol="false" tIns="0" lIns="0" bIns="0" rIns="0">
            <a:spAutoFit/>
          </a:bodyPr>
          <a:lstStyle/>
          <a:p>
            <a:pPr algn="l" marL="0" indent="0" lvl="0">
              <a:lnSpc>
                <a:spcPts val="2943"/>
              </a:lnSpc>
              <a:spcBef>
                <a:spcPct val="0"/>
              </a:spcBef>
            </a:pPr>
            <a:r>
              <a:rPr lang="en-US" sz="1599">
                <a:solidFill>
                  <a:srgbClr val="000000"/>
                </a:solidFill>
                <a:latin typeface="Garet Light"/>
                <a:ea typeface="Garet Light"/>
                <a:cs typeface="Garet Light"/>
                <a:sym typeface="Garet Light"/>
              </a:rPr>
              <a:t>joyalamaidajoy@gmail.com</a:t>
            </a:r>
          </a:p>
        </p:txBody>
      </p:sp>
      <p:sp>
        <p:nvSpPr>
          <p:cNvPr name="TextBox 39" id="39"/>
          <p:cNvSpPr txBox="true"/>
          <p:nvPr/>
        </p:nvSpPr>
        <p:spPr>
          <a:xfrm rot="0">
            <a:off x="1412683" y="5400203"/>
            <a:ext cx="839236" cy="254570"/>
          </a:xfrm>
          <a:prstGeom prst="rect">
            <a:avLst/>
          </a:prstGeom>
        </p:spPr>
        <p:txBody>
          <a:bodyPr anchor="t" rtlCol="false" tIns="0" lIns="0" bIns="0" rIns="0">
            <a:spAutoFit/>
          </a:bodyPr>
          <a:lstStyle/>
          <a:p>
            <a:pPr algn="l">
              <a:lnSpc>
                <a:spcPts val="1912"/>
              </a:lnSpc>
            </a:pPr>
            <a:r>
              <a:rPr lang="en-US" sz="1803" b="true">
                <a:solidFill>
                  <a:srgbClr val="000000"/>
                </a:solidFill>
                <a:latin typeface="Garet Bold"/>
                <a:ea typeface="Garet Bold"/>
                <a:cs typeface="Garet Bold"/>
                <a:sym typeface="Garet Bold"/>
              </a:rPr>
              <a:t>E-Mail</a:t>
            </a:r>
          </a:p>
        </p:txBody>
      </p:sp>
      <p:sp>
        <p:nvSpPr>
          <p:cNvPr name="Freeform 40" id="40"/>
          <p:cNvSpPr/>
          <p:nvPr/>
        </p:nvSpPr>
        <p:spPr>
          <a:xfrm flipH="false" flipV="false" rot="0">
            <a:off x="762000" y="4400021"/>
            <a:ext cx="597958" cy="597958"/>
          </a:xfrm>
          <a:custGeom>
            <a:avLst/>
            <a:gdLst/>
            <a:ahLst/>
            <a:cxnLst/>
            <a:rect r="r" b="b" t="t" l="l"/>
            <a:pathLst>
              <a:path h="597958" w="597958">
                <a:moveTo>
                  <a:pt x="0" y="0"/>
                </a:moveTo>
                <a:lnTo>
                  <a:pt x="597958" y="0"/>
                </a:lnTo>
                <a:lnTo>
                  <a:pt x="597958" y="597958"/>
                </a:lnTo>
                <a:lnTo>
                  <a:pt x="0" y="59795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41" id="41"/>
          <p:cNvSpPr txBox="true"/>
          <p:nvPr/>
        </p:nvSpPr>
        <p:spPr>
          <a:xfrm rot="0">
            <a:off x="1455081" y="4613275"/>
            <a:ext cx="2709606" cy="295784"/>
          </a:xfrm>
          <a:prstGeom prst="rect">
            <a:avLst/>
          </a:prstGeom>
        </p:spPr>
        <p:txBody>
          <a:bodyPr anchor="t" rtlCol="false" tIns="0" lIns="0" bIns="0" rIns="0">
            <a:spAutoFit/>
          </a:bodyPr>
          <a:lstStyle/>
          <a:p>
            <a:pPr algn="l" marL="0" indent="0" lvl="0">
              <a:lnSpc>
                <a:spcPts val="2575"/>
              </a:lnSpc>
              <a:spcBef>
                <a:spcPct val="0"/>
              </a:spcBef>
            </a:pPr>
            <a:r>
              <a:rPr lang="en-US" sz="1399">
                <a:solidFill>
                  <a:srgbClr val="000000"/>
                </a:solidFill>
                <a:latin typeface="Garet"/>
                <a:ea typeface="Garet"/>
                <a:cs typeface="Garet"/>
                <a:sym typeface="Garet"/>
              </a:rPr>
              <a:t>www.joyfulrosedelights.com</a:t>
            </a:r>
          </a:p>
        </p:txBody>
      </p:sp>
      <p:sp>
        <p:nvSpPr>
          <p:cNvPr name="TextBox 42" id="42"/>
          <p:cNvSpPr txBox="true"/>
          <p:nvPr/>
        </p:nvSpPr>
        <p:spPr>
          <a:xfrm rot="0">
            <a:off x="1455081" y="4444430"/>
            <a:ext cx="1070560" cy="254570"/>
          </a:xfrm>
          <a:prstGeom prst="rect">
            <a:avLst/>
          </a:prstGeom>
        </p:spPr>
        <p:txBody>
          <a:bodyPr anchor="t" rtlCol="false" tIns="0" lIns="0" bIns="0" rIns="0">
            <a:spAutoFit/>
          </a:bodyPr>
          <a:lstStyle/>
          <a:p>
            <a:pPr algn="l">
              <a:lnSpc>
                <a:spcPts val="1912"/>
              </a:lnSpc>
            </a:pPr>
            <a:r>
              <a:rPr lang="en-US" sz="1803" b="true">
                <a:solidFill>
                  <a:srgbClr val="000000"/>
                </a:solidFill>
                <a:latin typeface="Garet Bold"/>
                <a:ea typeface="Garet Bold"/>
                <a:cs typeface="Garet Bold"/>
                <a:sym typeface="Garet Bold"/>
              </a:rPr>
              <a:t>Website</a:t>
            </a:r>
          </a:p>
        </p:txBody>
      </p:sp>
      <p:sp>
        <p:nvSpPr>
          <p:cNvPr name="Freeform 43" id="43"/>
          <p:cNvSpPr/>
          <p:nvPr/>
        </p:nvSpPr>
        <p:spPr>
          <a:xfrm flipH="false" flipV="false" rot="0">
            <a:off x="767569" y="6260042"/>
            <a:ext cx="597958" cy="597958"/>
          </a:xfrm>
          <a:custGeom>
            <a:avLst/>
            <a:gdLst/>
            <a:ahLst/>
            <a:cxnLst/>
            <a:rect r="r" b="b" t="t" l="l"/>
            <a:pathLst>
              <a:path h="597958" w="597958">
                <a:moveTo>
                  <a:pt x="0" y="0"/>
                </a:moveTo>
                <a:lnTo>
                  <a:pt x="597957" y="0"/>
                </a:lnTo>
                <a:lnTo>
                  <a:pt x="597957" y="597958"/>
                </a:lnTo>
                <a:lnTo>
                  <a:pt x="0" y="59795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TextBox 44" id="44"/>
          <p:cNvSpPr txBox="true"/>
          <p:nvPr/>
        </p:nvSpPr>
        <p:spPr>
          <a:xfrm rot="0">
            <a:off x="1478645" y="6499059"/>
            <a:ext cx="3327637" cy="698628"/>
          </a:xfrm>
          <a:prstGeom prst="rect">
            <a:avLst/>
          </a:prstGeom>
        </p:spPr>
        <p:txBody>
          <a:bodyPr anchor="t" rtlCol="false" tIns="0" lIns="0" bIns="0" rIns="0">
            <a:spAutoFit/>
          </a:bodyPr>
          <a:lstStyle/>
          <a:p>
            <a:pPr algn="l" marL="0" indent="0" lvl="0">
              <a:lnSpc>
                <a:spcPts val="2943"/>
              </a:lnSpc>
              <a:spcBef>
                <a:spcPct val="0"/>
              </a:spcBef>
            </a:pPr>
            <a:r>
              <a:rPr lang="en-US" sz="1599">
                <a:solidFill>
                  <a:srgbClr val="000000"/>
                </a:solidFill>
                <a:latin typeface="Garet Light"/>
                <a:ea typeface="Garet Light"/>
                <a:cs typeface="Garet Light"/>
                <a:sym typeface="Garet Light"/>
              </a:rPr>
              <a:t>Purok 3 Sunflower Pag-utlan Tayud Consolacion Cebu</a:t>
            </a:r>
          </a:p>
        </p:txBody>
      </p:sp>
      <p:sp>
        <p:nvSpPr>
          <p:cNvPr name="TextBox 45" id="45"/>
          <p:cNvSpPr txBox="true"/>
          <p:nvPr/>
        </p:nvSpPr>
        <p:spPr>
          <a:xfrm rot="0">
            <a:off x="1478645" y="6279092"/>
            <a:ext cx="1070560" cy="254570"/>
          </a:xfrm>
          <a:prstGeom prst="rect">
            <a:avLst/>
          </a:prstGeom>
        </p:spPr>
        <p:txBody>
          <a:bodyPr anchor="t" rtlCol="false" tIns="0" lIns="0" bIns="0" rIns="0">
            <a:spAutoFit/>
          </a:bodyPr>
          <a:lstStyle/>
          <a:p>
            <a:pPr algn="l">
              <a:lnSpc>
                <a:spcPts val="1912"/>
              </a:lnSpc>
            </a:pPr>
            <a:r>
              <a:rPr lang="en-US" sz="1803" b="true">
                <a:solidFill>
                  <a:srgbClr val="000000"/>
                </a:solidFill>
                <a:latin typeface="Garet Bold"/>
                <a:ea typeface="Garet Bold"/>
                <a:cs typeface="Garet Bold"/>
                <a:sym typeface="Garet Bold"/>
              </a:rPr>
              <a:t>Address</a:t>
            </a:r>
          </a:p>
        </p:txBody>
      </p:sp>
      <p:sp>
        <p:nvSpPr>
          <p:cNvPr name="AutoShape 46" id="46"/>
          <p:cNvSpPr/>
          <p:nvPr/>
        </p:nvSpPr>
        <p:spPr>
          <a:xfrm>
            <a:off x="827592" y="1903148"/>
            <a:ext cx="1064732" cy="0"/>
          </a:xfrm>
          <a:prstGeom prst="line">
            <a:avLst/>
          </a:prstGeom>
          <a:ln cap="flat" w="9525">
            <a:solidFill>
              <a:srgbClr val="000000"/>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762000" y="46621"/>
            <a:ext cx="5190084" cy="811540"/>
          </a:xfrm>
          <a:custGeom>
            <a:avLst/>
            <a:gdLst/>
            <a:ahLst/>
            <a:cxnLst/>
            <a:rect r="r" b="b" t="t" l="l"/>
            <a:pathLst>
              <a:path h="811540" w="5190084">
                <a:moveTo>
                  <a:pt x="0" y="0"/>
                </a:moveTo>
                <a:lnTo>
                  <a:pt x="5190084" y="0"/>
                </a:lnTo>
                <a:lnTo>
                  <a:pt x="5190084" y="811540"/>
                </a:lnTo>
                <a:lnTo>
                  <a:pt x="0" y="811540"/>
                </a:lnTo>
                <a:lnTo>
                  <a:pt x="0" y="0"/>
                </a:lnTo>
                <a:close/>
              </a:path>
            </a:pathLst>
          </a:custGeom>
          <a:blipFill>
            <a:blip r:embed="rId2">
              <a:extLst>
                <a:ext uri="{96DAC541-7B7A-43D3-8B79-37D633B846F1}">
                  <asvg:svgBlip xmlns:asvg="http://schemas.microsoft.com/office/drawing/2016/SVG/main" r:embed="rId3"/>
                </a:ext>
              </a:extLst>
            </a:blip>
            <a:stretch>
              <a:fillRect l="0" t="-588" r="0" b="-588"/>
            </a:stretch>
          </a:blipFill>
        </p:spPr>
      </p:sp>
      <p:grpSp>
        <p:nvGrpSpPr>
          <p:cNvPr name="Group 3" id="3"/>
          <p:cNvGrpSpPr/>
          <p:nvPr/>
        </p:nvGrpSpPr>
        <p:grpSpPr>
          <a:xfrm rot="0">
            <a:off x="762000" y="115569"/>
            <a:ext cx="4514226" cy="709157"/>
            <a:chOff x="0" y="0"/>
            <a:chExt cx="6018968" cy="945542"/>
          </a:xfrm>
        </p:grpSpPr>
        <p:sp>
          <p:nvSpPr>
            <p:cNvPr name="Freeform 4" id="4"/>
            <p:cNvSpPr/>
            <p:nvPr/>
          </p:nvSpPr>
          <p:spPr>
            <a:xfrm flipH="false" flipV="false" rot="0">
              <a:off x="0" y="0"/>
              <a:ext cx="6018968" cy="945542"/>
            </a:xfrm>
            <a:custGeom>
              <a:avLst/>
              <a:gdLst/>
              <a:ahLst/>
              <a:cxnLst/>
              <a:rect r="r" b="b" t="t" l="l"/>
              <a:pathLst>
                <a:path h="945542" w="6018968">
                  <a:moveTo>
                    <a:pt x="0" y="0"/>
                  </a:moveTo>
                  <a:lnTo>
                    <a:pt x="6018968" y="0"/>
                  </a:lnTo>
                  <a:lnTo>
                    <a:pt x="6018968" y="945542"/>
                  </a:lnTo>
                  <a:lnTo>
                    <a:pt x="0" y="945542"/>
                  </a:lnTo>
                  <a:close/>
                </a:path>
              </a:pathLst>
            </a:custGeom>
            <a:solidFill>
              <a:srgbClr val="000000">
                <a:alpha val="0"/>
              </a:srgbClr>
            </a:solidFill>
          </p:spPr>
        </p:sp>
        <p:sp>
          <p:nvSpPr>
            <p:cNvPr name="TextBox 5" id="5"/>
            <p:cNvSpPr txBox="true"/>
            <p:nvPr/>
          </p:nvSpPr>
          <p:spPr>
            <a:xfrm>
              <a:off x="0" y="-76200"/>
              <a:ext cx="6018968" cy="1021742"/>
            </a:xfrm>
            <a:prstGeom prst="rect">
              <a:avLst/>
            </a:prstGeom>
          </p:spPr>
          <p:txBody>
            <a:bodyPr anchor="t" rtlCol="false" tIns="0" lIns="0" bIns="0" rIns="0"/>
            <a:lstStyle/>
            <a:p>
              <a:pPr algn="ctr">
                <a:lnSpc>
                  <a:spcPts val="5319"/>
                </a:lnSpc>
              </a:pPr>
              <a:r>
                <a:rPr lang="en-US" sz="3799" b="true">
                  <a:solidFill>
                    <a:srgbClr val="000000"/>
                  </a:solidFill>
                  <a:latin typeface="Baskerville Display PT Bold"/>
                  <a:ea typeface="Baskerville Display PT Bold"/>
                  <a:cs typeface="Baskerville Display PT Bold"/>
                  <a:sym typeface="Baskerville Display PT Bold"/>
                </a:rPr>
                <a:t>PRIVACY &amp;TERMS</a:t>
              </a:r>
            </a:p>
          </p:txBody>
        </p:sp>
      </p:grpSp>
      <p:sp>
        <p:nvSpPr>
          <p:cNvPr name="TextBox 6" id="6"/>
          <p:cNvSpPr txBox="true"/>
          <p:nvPr/>
        </p:nvSpPr>
        <p:spPr>
          <a:xfrm rot="0">
            <a:off x="5489516" y="963944"/>
            <a:ext cx="2191048" cy="356234"/>
          </a:xfrm>
          <a:prstGeom prst="rect">
            <a:avLst/>
          </a:prstGeom>
        </p:spPr>
        <p:txBody>
          <a:bodyPr anchor="t" rtlCol="false" tIns="0" lIns="0" bIns="0" rIns="0">
            <a:spAutoFit/>
          </a:bodyPr>
          <a:lstStyle/>
          <a:p>
            <a:pPr algn="ctr">
              <a:lnSpc>
                <a:spcPts val="2940"/>
              </a:lnSpc>
            </a:pPr>
            <a:r>
              <a:rPr lang="en-US" sz="2100" b="true">
                <a:solidFill>
                  <a:srgbClr val="000000"/>
                </a:solidFill>
                <a:latin typeface="Canva Sans Bold"/>
                <a:ea typeface="Canva Sans Bold"/>
                <a:cs typeface="Canva Sans Bold"/>
                <a:sym typeface="Canva Sans Bold"/>
              </a:rPr>
              <a:t>PRIVACY POLICY</a:t>
            </a:r>
          </a:p>
        </p:txBody>
      </p:sp>
      <p:sp>
        <p:nvSpPr>
          <p:cNvPr name="TextBox 7" id="7"/>
          <p:cNvSpPr txBox="true"/>
          <p:nvPr/>
        </p:nvSpPr>
        <p:spPr>
          <a:xfrm rot="0">
            <a:off x="0" y="1301839"/>
            <a:ext cx="11871679" cy="6111746"/>
          </a:xfrm>
          <a:prstGeom prst="rect">
            <a:avLst/>
          </a:prstGeom>
        </p:spPr>
        <p:txBody>
          <a:bodyPr anchor="t" rtlCol="false" tIns="0" lIns="0" bIns="0" rIns="0">
            <a:spAutoFit/>
          </a:bodyPr>
          <a:lstStyle/>
          <a:p>
            <a:pPr algn="l">
              <a:lnSpc>
                <a:spcPts val="1931"/>
              </a:lnSpc>
            </a:pPr>
            <a:r>
              <a:rPr lang="en-US" sz="1379">
                <a:solidFill>
                  <a:srgbClr val="000000"/>
                </a:solidFill>
                <a:latin typeface="Canva Sans"/>
                <a:ea typeface="Canva Sans"/>
                <a:cs typeface="Canva Sans"/>
                <a:sym typeface="Canva Sans"/>
              </a:rPr>
              <a:t>Effective Date: January 02,2025</a:t>
            </a:r>
          </a:p>
          <a:p>
            <a:pPr algn="l">
              <a:lnSpc>
                <a:spcPts val="1931"/>
              </a:lnSpc>
            </a:pPr>
            <a:r>
              <a:rPr lang="en-US" sz="1379">
                <a:solidFill>
                  <a:srgbClr val="000000"/>
                </a:solidFill>
                <a:latin typeface="Canva Sans"/>
                <a:ea typeface="Canva Sans"/>
                <a:cs typeface="Canva Sans"/>
                <a:sym typeface="Canva Sans"/>
              </a:rPr>
              <a:t>At Joyful Rose Delights, we value your privacy and are committed to protecting your personal information. This Privacy Policy explains what information we collect, how we use it, and your rights regarding your data.</a:t>
            </a:r>
          </a:p>
          <a:p>
            <a:pPr algn="l">
              <a:lnSpc>
                <a:spcPts val="1931"/>
              </a:lnSpc>
            </a:pPr>
            <a:r>
              <a:rPr lang="en-US" sz="1379">
                <a:solidFill>
                  <a:srgbClr val="000000"/>
                </a:solidFill>
                <a:latin typeface="Canva Sans"/>
                <a:ea typeface="Canva Sans"/>
                <a:cs typeface="Canva Sans"/>
                <a:sym typeface="Canva Sans"/>
              </a:rPr>
              <a:t>1. Information We Collect</a:t>
            </a:r>
          </a:p>
          <a:p>
            <a:pPr algn="l" marL="297798" indent="-148899" lvl="1">
              <a:lnSpc>
                <a:spcPts val="1931"/>
              </a:lnSpc>
              <a:buFont typeface="Arial"/>
              <a:buChar char="•"/>
            </a:pPr>
            <a:r>
              <a:rPr lang="en-US" sz="1379">
                <a:solidFill>
                  <a:srgbClr val="000000"/>
                </a:solidFill>
                <a:latin typeface="Canva Sans"/>
                <a:ea typeface="Canva Sans"/>
                <a:cs typeface="Canva Sans"/>
                <a:sym typeface="Canva Sans"/>
              </a:rPr>
              <a:t>Your name, email address, and phone number (when you contact us or place an order)</a:t>
            </a:r>
          </a:p>
          <a:p>
            <a:pPr algn="l" marL="297798" indent="-148899" lvl="1">
              <a:lnSpc>
                <a:spcPts val="1931"/>
              </a:lnSpc>
              <a:buFont typeface="Arial"/>
              <a:buChar char="•"/>
            </a:pPr>
            <a:r>
              <a:rPr lang="en-US" sz="1379">
                <a:solidFill>
                  <a:srgbClr val="000000"/>
                </a:solidFill>
                <a:latin typeface="Canva Sans"/>
                <a:ea typeface="Canva Sans"/>
                <a:cs typeface="Canva Sans"/>
                <a:sym typeface="Canva Sans"/>
              </a:rPr>
              <a:t>Delivery address (for local orders)</a:t>
            </a:r>
          </a:p>
          <a:p>
            <a:pPr algn="l" marL="297798" indent="-148899" lvl="1">
              <a:lnSpc>
                <a:spcPts val="1931"/>
              </a:lnSpc>
              <a:buFont typeface="Arial"/>
              <a:buChar char="•"/>
            </a:pPr>
            <a:r>
              <a:rPr lang="en-US" sz="1379">
                <a:solidFill>
                  <a:srgbClr val="000000"/>
                </a:solidFill>
                <a:latin typeface="Canva Sans"/>
                <a:ea typeface="Canva Sans"/>
                <a:cs typeface="Canva Sans"/>
                <a:sym typeface="Canva Sans"/>
              </a:rPr>
              <a:t>Payment details processed securely 50 % online (Gcash, Maya ,bank)&amp; 50% will collected during pcikup/delivery.</a:t>
            </a:r>
          </a:p>
          <a:p>
            <a:pPr algn="l">
              <a:lnSpc>
                <a:spcPts val="1931"/>
              </a:lnSpc>
            </a:pPr>
            <a:r>
              <a:rPr lang="en-US" sz="1379">
                <a:solidFill>
                  <a:srgbClr val="000000"/>
                </a:solidFill>
                <a:latin typeface="Canva Sans"/>
                <a:ea typeface="Canva Sans"/>
                <a:cs typeface="Canva Sans"/>
                <a:sym typeface="Canva Sans"/>
              </a:rPr>
              <a:t>2. How We Use Your Information</a:t>
            </a:r>
          </a:p>
          <a:p>
            <a:pPr algn="l" marL="297798" indent="-148899" lvl="1">
              <a:lnSpc>
                <a:spcPts val="1931"/>
              </a:lnSpc>
              <a:buFont typeface="Arial"/>
              <a:buChar char="•"/>
            </a:pPr>
            <a:r>
              <a:rPr lang="en-US" sz="1379">
                <a:solidFill>
                  <a:srgbClr val="000000"/>
                </a:solidFill>
                <a:latin typeface="Canva Sans"/>
                <a:ea typeface="Canva Sans"/>
                <a:cs typeface="Canva Sans"/>
                <a:sym typeface="Canva Sans"/>
              </a:rPr>
              <a:t>To fulfill and deliver your orders</a:t>
            </a:r>
          </a:p>
          <a:p>
            <a:pPr algn="l" marL="297798" indent="-148899" lvl="1">
              <a:lnSpc>
                <a:spcPts val="1931"/>
              </a:lnSpc>
              <a:buFont typeface="Arial"/>
              <a:buChar char="•"/>
            </a:pPr>
            <a:r>
              <a:rPr lang="en-US" sz="1379">
                <a:solidFill>
                  <a:srgbClr val="000000"/>
                </a:solidFill>
                <a:latin typeface="Canva Sans"/>
                <a:ea typeface="Canva Sans"/>
                <a:cs typeface="Canva Sans"/>
                <a:sym typeface="Canva Sans"/>
              </a:rPr>
              <a:t>To respond to inquiries and provide customer support</a:t>
            </a:r>
          </a:p>
          <a:p>
            <a:pPr algn="l" marL="297798" indent="-148899" lvl="1">
              <a:lnSpc>
                <a:spcPts val="1931"/>
              </a:lnSpc>
              <a:buFont typeface="Arial"/>
              <a:buChar char="•"/>
            </a:pPr>
            <a:r>
              <a:rPr lang="en-US" sz="1379">
                <a:solidFill>
                  <a:srgbClr val="000000"/>
                </a:solidFill>
                <a:latin typeface="Canva Sans"/>
                <a:ea typeface="Canva Sans"/>
                <a:cs typeface="Canva Sans"/>
                <a:sym typeface="Canva Sans"/>
              </a:rPr>
              <a:t>To improve our website and offerings</a:t>
            </a:r>
          </a:p>
          <a:p>
            <a:pPr algn="l" marL="297798" indent="-148899" lvl="1">
              <a:lnSpc>
                <a:spcPts val="1931"/>
              </a:lnSpc>
              <a:buFont typeface="Arial"/>
              <a:buChar char="•"/>
            </a:pPr>
            <a:r>
              <a:rPr lang="en-US" sz="1379">
                <a:solidFill>
                  <a:srgbClr val="000000"/>
                </a:solidFill>
                <a:latin typeface="Canva Sans"/>
                <a:ea typeface="Canva Sans"/>
                <a:cs typeface="Canva Sans"/>
                <a:sym typeface="Canva Sans"/>
              </a:rPr>
              <a:t>For marketing emails (only with your permission)</a:t>
            </a:r>
          </a:p>
          <a:p>
            <a:pPr algn="l">
              <a:lnSpc>
                <a:spcPts val="1931"/>
              </a:lnSpc>
            </a:pPr>
            <a:r>
              <a:rPr lang="en-US" sz="1379">
                <a:solidFill>
                  <a:srgbClr val="000000"/>
                </a:solidFill>
                <a:latin typeface="Canva Sans"/>
                <a:ea typeface="Canva Sans"/>
                <a:cs typeface="Canva Sans"/>
                <a:sym typeface="Canva Sans"/>
              </a:rPr>
              <a:t>3. How We Protect Your Data</a:t>
            </a:r>
          </a:p>
          <a:p>
            <a:pPr algn="l">
              <a:lnSpc>
                <a:spcPts val="1931"/>
              </a:lnSpc>
            </a:pPr>
            <a:r>
              <a:rPr lang="en-US" sz="1379">
                <a:solidFill>
                  <a:srgbClr val="000000"/>
                </a:solidFill>
                <a:latin typeface="Canva Sans"/>
                <a:ea typeface="Canva Sans"/>
                <a:cs typeface="Canva Sans"/>
                <a:sym typeface="Canva Sans"/>
              </a:rPr>
              <a:t>We use secure systems to store and manage data. We do not sell or share your personal information with third parties, except for trusted services used to process payments and deliveries.</a:t>
            </a:r>
          </a:p>
          <a:p>
            <a:pPr algn="l">
              <a:lnSpc>
                <a:spcPts val="1931"/>
              </a:lnSpc>
            </a:pPr>
            <a:r>
              <a:rPr lang="en-US" sz="1379">
                <a:solidFill>
                  <a:srgbClr val="000000"/>
                </a:solidFill>
                <a:latin typeface="Canva Sans"/>
                <a:ea typeface="Canva Sans"/>
                <a:cs typeface="Canva Sans"/>
                <a:sym typeface="Canva Sans"/>
              </a:rPr>
              <a:t>4. Your Rights</a:t>
            </a:r>
          </a:p>
          <a:p>
            <a:pPr algn="l">
              <a:lnSpc>
                <a:spcPts val="1931"/>
              </a:lnSpc>
            </a:pPr>
            <a:r>
              <a:rPr lang="en-US" sz="1379">
                <a:solidFill>
                  <a:srgbClr val="000000"/>
                </a:solidFill>
                <a:latin typeface="Canva Sans"/>
                <a:ea typeface="Canva Sans"/>
                <a:cs typeface="Canva Sans"/>
                <a:sym typeface="Canva Sans"/>
              </a:rPr>
              <a:t>You may request:</a:t>
            </a:r>
          </a:p>
          <a:p>
            <a:pPr algn="l" marL="297798" indent="-148899" lvl="1">
              <a:lnSpc>
                <a:spcPts val="1931"/>
              </a:lnSpc>
              <a:buFont typeface="Arial"/>
              <a:buChar char="•"/>
            </a:pPr>
            <a:r>
              <a:rPr lang="en-US" sz="1379">
                <a:solidFill>
                  <a:srgbClr val="000000"/>
                </a:solidFill>
                <a:latin typeface="Canva Sans"/>
                <a:ea typeface="Canva Sans"/>
                <a:cs typeface="Canva Sans"/>
                <a:sym typeface="Canva Sans"/>
              </a:rPr>
              <a:t>To access or correct your personal data</a:t>
            </a:r>
          </a:p>
          <a:p>
            <a:pPr algn="l" marL="297798" indent="-148899" lvl="1">
              <a:lnSpc>
                <a:spcPts val="1931"/>
              </a:lnSpc>
              <a:buFont typeface="Arial"/>
              <a:buChar char="•"/>
            </a:pPr>
            <a:r>
              <a:rPr lang="en-US" sz="1379">
                <a:solidFill>
                  <a:srgbClr val="000000"/>
                </a:solidFill>
                <a:latin typeface="Canva Sans"/>
                <a:ea typeface="Canva Sans"/>
                <a:cs typeface="Canva Sans"/>
                <a:sym typeface="Canva Sans"/>
              </a:rPr>
              <a:t>To unsubscribe from emails</a:t>
            </a:r>
          </a:p>
          <a:p>
            <a:pPr algn="l" marL="297798" indent="-148899" lvl="1">
              <a:lnSpc>
                <a:spcPts val="1931"/>
              </a:lnSpc>
              <a:buFont typeface="Arial"/>
              <a:buChar char="•"/>
            </a:pPr>
            <a:r>
              <a:rPr lang="en-US" sz="1379">
                <a:solidFill>
                  <a:srgbClr val="000000"/>
                </a:solidFill>
                <a:latin typeface="Canva Sans"/>
                <a:ea typeface="Canva Sans"/>
                <a:cs typeface="Canva Sans"/>
                <a:sym typeface="Canva Sans"/>
              </a:rPr>
              <a:t>To delete your information(joyalmedam@gmail.com)</a:t>
            </a:r>
          </a:p>
          <a:p>
            <a:pPr algn="l">
              <a:lnSpc>
                <a:spcPts val="1931"/>
              </a:lnSpc>
            </a:pPr>
            <a:r>
              <a:rPr lang="en-US" sz="1379">
                <a:solidFill>
                  <a:srgbClr val="000000"/>
                </a:solidFill>
                <a:latin typeface="Canva Sans"/>
                <a:ea typeface="Canva Sans"/>
                <a:cs typeface="Canva Sans"/>
                <a:sym typeface="Canva Sans"/>
              </a:rPr>
              <a:t>5. Cookies</a:t>
            </a:r>
          </a:p>
          <a:p>
            <a:pPr algn="l">
              <a:lnSpc>
                <a:spcPts val="1931"/>
              </a:lnSpc>
            </a:pPr>
            <a:r>
              <a:rPr lang="en-US" sz="1379">
                <a:solidFill>
                  <a:srgbClr val="000000"/>
                </a:solidFill>
                <a:latin typeface="Canva Sans"/>
                <a:ea typeface="Canva Sans"/>
                <a:cs typeface="Canva Sans"/>
                <a:sym typeface="Canva Sans"/>
              </a:rPr>
              <a:t>We may use cookies to improve your browsing experience. You can choose to disable cookies through your browser settings.</a:t>
            </a:r>
          </a:p>
          <a:p>
            <a:pPr algn="l">
              <a:lnSpc>
                <a:spcPts val="1931"/>
              </a:lnSpc>
            </a:pPr>
            <a:r>
              <a:rPr lang="en-US" sz="1379">
                <a:solidFill>
                  <a:srgbClr val="000000"/>
                </a:solidFill>
                <a:latin typeface="Canva Sans"/>
                <a:ea typeface="Canva Sans"/>
                <a:cs typeface="Canva Sans"/>
                <a:sym typeface="Canva Sans"/>
              </a:rPr>
              <a:t>6. Contact</a:t>
            </a:r>
          </a:p>
          <a:p>
            <a:pPr algn="l">
              <a:lnSpc>
                <a:spcPts val="1931"/>
              </a:lnSpc>
            </a:pPr>
            <a:r>
              <a:rPr lang="en-US" sz="1379">
                <a:solidFill>
                  <a:srgbClr val="000000"/>
                </a:solidFill>
                <a:latin typeface="Canva Sans"/>
                <a:ea typeface="Canva Sans"/>
                <a:cs typeface="Canva Sans"/>
                <a:sym typeface="Canva Sans"/>
              </a:rPr>
              <a:t>For any privacy concerns, email us at: joyalmedam@gmail.com/+639473540144</a:t>
            </a:r>
          </a:p>
          <a:p>
            <a:pPr algn="ctr">
              <a:lnSpc>
                <a:spcPts val="1931"/>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762000" y="46621"/>
            <a:ext cx="5190084" cy="811540"/>
          </a:xfrm>
          <a:custGeom>
            <a:avLst/>
            <a:gdLst/>
            <a:ahLst/>
            <a:cxnLst/>
            <a:rect r="r" b="b" t="t" l="l"/>
            <a:pathLst>
              <a:path h="811540" w="5190084">
                <a:moveTo>
                  <a:pt x="0" y="0"/>
                </a:moveTo>
                <a:lnTo>
                  <a:pt x="5190084" y="0"/>
                </a:lnTo>
                <a:lnTo>
                  <a:pt x="5190084" y="811540"/>
                </a:lnTo>
                <a:lnTo>
                  <a:pt x="0" y="811540"/>
                </a:lnTo>
                <a:lnTo>
                  <a:pt x="0" y="0"/>
                </a:lnTo>
                <a:close/>
              </a:path>
            </a:pathLst>
          </a:custGeom>
          <a:blipFill>
            <a:blip r:embed="rId2">
              <a:extLst>
                <a:ext uri="{96DAC541-7B7A-43D3-8B79-37D633B846F1}">
                  <asvg:svgBlip xmlns:asvg="http://schemas.microsoft.com/office/drawing/2016/SVG/main" r:embed="rId3"/>
                </a:ext>
              </a:extLst>
            </a:blip>
            <a:stretch>
              <a:fillRect l="0" t="-588" r="0" b="-588"/>
            </a:stretch>
          </a:blipFill>
        </p:spPr>
      </p:sp>
      <p:grpSp>
        <p:nvGrpSpPr>
          <p:cNvPr name="Group 3" id="3"/>
          <p:cNvGrpSpPr/>
          <p:nvPr/>
        </p:nvGrpSpPr>
        <p:grpSpPr>
          <a:xfrm rot="0">
            <a:off x="762000" y="115569"/>
            <a:ext cx="4514226" cy="709157"/>
            <a:chOff x="0" y="0"/>
            <a:chExt cx="6018968" cy="945542"/>
          </a:xfrm>
        </p:grpSpPr>
        <p:sp>
          <p:nvSpPr>
            <p:cNvPr name="Freeform 4" id="4"/>
            <p:cNvSpPr/>
            <p:nvPr/>
          </p:nvSpPr>
          <p:spPr>
            <a:xfrm flipH="false" flipV="false" rot="0">
              <a:off x="0" y="0"/>
              <a:ext cx="6018968" cy="945542"/>
            </a:xfrm>
            <a:custGeom>
              <a:avLst/>
              <a:gdLst/>
              <a:ahLst/>
              <a:cxnLst/>
              <a:rect r="r" b="b" t="t" l="l"/>
              <a:pathLst>
                <a:path h="945542" w="6018968">
                  <a:moveTo>
                    <a:pt x="0" y="0"/>
                  </a:moveTo>
                  <a:lnTo>
                    <a:pt x="6018968" y="0"/>
                  </a:lnTo>
                  <a:lnTo>
                    <a:pt x="6018968" y="945542"/>
                  </a:lnTo>
                  <a:lnTo>
                    <a:pt x="0" y="945542"/>
                  </a:lnTo>
                  <a:close/>
                </a:path>
              </a:pathLst>
            </a:custGeom>
            <a:solidFill>
              <a:srgbClr val="000000">
                <a:alpha val="0"/>
              </a:srgbClr>
            </a:solidFill>
          </p:spPr>
        </p:sp>
        <p:sp>
          <p:nvSpPr>
            <p:cNvPr name="TextBox 5" id="5"/>
            <p:cNvSpPr txBox="true"/>
            <p:nvPr/>
          </p:nvSpPr>
          <p:spPr>
            <a:xfrm>
              <a:off x="0" y="-76200"/>
              <a:ext cx="6018968" cy="1021742"/>
            </a:xfrm>
            <a:prstGeom prst="rect">
              <a:avLst/>
            </a:prstGeom>
          </p:spPr>
          <p:txBody>
            <a:bodyPr anchor="t" rtlCol="false" tIns="0" lIns="0" bIns="0" rIns="0"/>
            <a:lstStyle/>
            <a:p>
              <a:pPr algn="ctr">
                <a:lnSpc>
                  <a:spcPts val="5319"/>
                </a:lnSpc>
              </a:pPr>
              <a:r>
                <a:rPr lang="en-US" sz="3799" b="true">
                  <a:solidFill>
                    <a:srgbClr val="000000"/>
                  </a:solidFill>
                  <a:latin typeface="Baskerville Display PT Bold"/>
                  <a:ea typeface="Baskerville Display PT Bold"/>
                  <a:cs typeface="Baskerville Display PT Bold"/>
                  <a:sym typeface="Baskerville Display PT Bold"/>
                </a:rPr>
                <a:t>PRIVACY &amp;TERMS</a:t>
              </a:r>
            </a:p>
          </p:txBody>
        </p:sp>
      </p:grpSp>
      <p:sp>
        <p:nvSpPr>
          <p:cNvPr name="TextBox 6" id="6"/>
          <p:cNvSpPr txBox="true"/>
          <p:nvPr/>
        </p:nvSpPr>
        <p:spPr>
          <a:xfrm rot="0">
            <a:off x="5120571" y="963944"/>
            <a:ext cx="2928938" cy="356234"/>
          </a:xfrm>
          <a:prstGeom prst="rect">
            <a:avLst/>
          </a:prstGeom>
        </p:spPr>
        <p:txBody>
          <a:bodyPr anchor="t" rtlCol="false" tIns="0" lIns="0" bIns="0" rIns="0">
            <a:spAutoFit/>
          </a:bodyPr>
          <a:lstStyle/>
          <a:p>
            <a:pPr algn="ctr">
              <a:lnSpc>
                <a:spcPts val="2940"/>
              </a:lnSpc>
            </a:pPr>
            <a:r>
              <a:rPr lang="en-US" sz="2100" b="true">
                <a:solidFill>
                  <a:srgbClr val="000000"/>
                </a:solidFill>
                <a:latin typeface="Canva Sans Bold"/>
                <a:ea typeface="Canva Sans Bold"/>
                <a:cs typeface="Canva Sans Bold"/>
                <a:sym typeface="Canva Sans Bold"/>
              </a:rPr>
              <a:t>TERMS &amp; CONDITIONS</a:t>
            </a:r>
          </a:p>
        </p:txBody>
      </p:sp>
      <p:sp>
        <p:nvSpPr>
          <p:cNvPr name="TextBox 7" id="7"/>
          <p:cNvSpPr txBox="true"/>
          <p:nvPr/>
        </p:nvSpPr>
        <p:spPr>
          <a:xfrm rot="0">
            <a:off x="0" y="1310653"/>
            <a:ext cx="11874736" cy="5985392"/>
          </a:xfrm>
          <a:prstGeom prst="rect">
            <a:avLst/>
          </a:prstGeom>
        </p:spPr>
        <p:txBody>
          <a:bodyPr anchor="t" rtlCol="false" tIns="0" lIns="0" bIns="0" rIns="0">
            <a:spAutoFit/>
          </a:bodyPr>
          <a:lstStyle/>
          <a:p>
            <a:pPr algn="ctr">
              <a:lnSpc>
                <a:spcPts val="1371"/>
              </a:lnSpc>
            </a:pPr>
          </a:p>
          <a:p>
            <a:pPr algn="l">
              <a:lnSpc>
                <a:spcPts val="1371"/>
              </a:lnSpc>
            </a:pPr>
            <a:r>
              <a:rPr lang="en-US" sz="979">
                <a:solidFill>
                  <a:srgbClr val="000000"/>
                </a:solidFill>
                <a:latin typeface="Canva Sans"/>
                <a:ea typeface="Canva Sans"/>
                <a:cs typeface="Canva Sans"/>
                <a:sym typeface="Canva Sans"/>
              </a:rPr>
              <a:t>Effective Date : January 2,2025</a:t>
            </a:r>
          </a:p>
          <a:p>
            <a:pPr algn="l">
              <a:lnSpc>
                <a:spcPts val="1371"/>
              </a:lnSpc>
            </a:pPr>
          </a:p>
          <a:p>
            <a:pPr algn="l">
              <a:lnSpc>
                <a:spcPts val="1371"/>
              </a:lnSpc>
              <a:spcBef>
                <a:spcPct val="0"/>
              </a:spcBef>
            </a:pPr>
            <a:r>
              <a:rPr lang="en-US" sz="979">
                <a:solidFill>
                  <a:srgbClr val="000000"/>
                </a:solidFill>
                <a:latin typeface="Canva Sans"/>
                <a:ea typeface="Canva Sans"/>
                <a:cs typeface="Canva Sans"/>
                <a:sym typeface="Canva Sans"/>
              </a:rPr>
              <a:t>By using our website and services, y</a:t>
            </a:r>
            <a:r>
              <a:rPr lang="en-US" sz="979">
                <a:solidFill>
                  <a:srgbClr val="000000"/>
                </a:solidFill>
                <a:latin typeface="Canva Sans"/>
                <a:ea typeface="Canva Sans"/>
                <a:cs typeface="Canva Sans"/>
                <a:sym typeface="Canva Sans"/>
              </a:rPr>
              <a:t>ou agree to the following terms and conditions.</a:t>
            </a:r>
          </a:p>
          <a:p>
            <a:pPr algn="l">
              <a:lnSpc>
                <a:spcPts val="1371"/>
              </a:lnSpc>
              <a:spcBef>
                <a:spcPct val="0"/>
              </a:spcBef>
            </a:pPr>
          </a:p>
          <a:p>
            <a:pPr algn="l">
              <a:lnSpc>
                <a:spcPts val="1371"/>
              </a:lnSpc>
              <a:spcBef>
                <a:spcPct val="0"/>
              </a:spcBef>
            </a:pPr>
            <a:r>
              <a:rPr lang="en-US" sz="979">
                <a:solidFill>
                  <a:srgbClr val="000000"/>
                </a:solidFill>
                <a:latin typeface="Canva Sans"/>
                <a:ea typeface="Canva Sans"/>
                <a:cs typeface="Canva Sans"/>
                <a:sym typeface="Canva Sans"/>
              </a:rPr>
              <a:t>1. Orders</a:t>
            </a:r>
          </a:p>
          <a:p>
            <a:pPr algn="l">
              <a:lnSpc>
                <a:spcPts val="1371"/>
              </a:lnSpc>
              <a:spcBef>
                <a:spcPct val="0"/>
              </a:spcBef>
            </a:pPr>
            <a:r>
              <a:rPr lang="en-US" sz="979">
                <a:solidFill>
                  <a:srgbClr val="000000"/>
                </a:solidFill>
                <a:latin typeface="Canva Sans"/>
                <a:ea typeface="Canva Sans"/>
                <a:cs typeface="Canva Sans"/>
                <a:sym typeface="Canva Sans"/>
              </a:rPr>
              <a:t>Orders must be placed at least 2 days  in advance.</a:t>
            </a:r>
          </a:p>
          <a:p>
            <a:pPr algn="l">
              <a:lnSpc>
                <a:spcPts val="1371"/>
              </a:lnSpc>
              <a:spcBef>
                <a:spcPct val="0"/>
              </a:spcBef>
            </a:pPr>
          </a:p>
          <a:p>
            <a:pPr algn="l">
              <a:lnSpc>
                <a:spcPts val="1371"/>
              </a:lnSpc>
              <a:spcBef>
                <a:spcPct val="0"/>
              </a:spcBef>
            </a:pPr>
            <a:r>
              <a:rPr lang="en-US" sz="979">
                <a:solidFill>
                  <a:srgbClr val="000000"/>
                </a:solidFill>
                <a:latin typeface="Canva Sans"/>
                <a:ea typeface="Canva Sans"/>
                <a:cs typeface="Canva Sans"/>
                <a:sym typeface="Canva Sans"/>
              </a:rPr>
              <a:t>Custom orders require full details and confirmation from our team.</a:t>
            </a:r>
          </a:p>
          <a:p>
            <a:pPr algn="l">
              <a:lnSpc>
                <a:spcPts val="1371"/>
              </a:lnSpc>
              <a:spcBef>
                <a:spcPct val="0"/>
              </a:spcBef>
            </a:pPr>
          </a:p>
          <a:p>
            <a:pPr algn="l">
              <a:lnSpc>
                <a:spcPts val="1371"/>
              </a:lnSpc>
              <a:spcBef>
                <a:spcPct val="0"/>
              </a:spcBef>
            </a:pPr>
            <a:r>
              <a:rPr lang="en-US" sz="979">
                <a:solidFill>
                  <a:srgbClr val="000000"/>
                </a:solidFill>
                <a:latin typeface="Canva Sans"/>
                <a:ea typeface="Canva Sans"/>
                <a:cs typeface="Canva Sans"/>
                <a:sym typeface="Canva Sans"/>
              </a:rPr>
              <a:t>Prices may vary based on customization.</a:t>
            </a:r>
          </a:p>
          <a:p>
            <a:pPr algn="l">
              <a:lnSpc>
                <a:spcPts val="1371"/>
              </a:lnSpc>
              <a:spcBef>
                <a:spcPct val="0"/>
              </a:spcBef>
            </a:pPr>
          </a:p>
          <a:p>
            <a:pPr algn="l">
              <a:lnSpc>
                <a:spcPts val="1371"/>
              </a:lnSpc>
              <a:spcBef>
                <a:spcPct val="0"/>
              </a:spcBef>
            </a:pPr>
            <a:r>
              <a:rPr lang="en-US" sz="979">
                <a:solidFill>
                  <a:srgbClr val="000000"/>
                </a:solidFill>
                <a:latin typeface="Canva Sans"/>
                <a:ea typeface="Canva Sans"/>
                <a:cs typeface="Canva Sans"/>
                <a:sym typeface="Canva Sans"/>
              </a:rPr>
              <a:t>2. Payments</a:t>
            </a:r>
          </a:p>
          <a:p>
            <a:pPr algn="l">
              <a:lnSpc>
                <a:spcPts val="1371"/>
              </a:lnSpc>
              <a:spcBef>
                <a:spcPct val="0"/>
              </a:spcBef>
            </a:pPr>
            <a:r>
              <a:rPr lang="en-US" sz="979">
                <a:solidFill>
                  <a:srgbClr val="000000"/>
                </a:solidFill>
                <a:latin typeface="Canva Sans"/>
                <a:ea typeface="Canva Sans"/>
                <a:cs typeface="Canva Sans"/>
                <a:sym typeface="Canva Sans"/>
              </a:rPr>
              <a:t>Payments must be made in half before order processing.</a:t>
            </a:r>
          </a:p>
          <a:p>
            <a:pPr algn="l">
              <a:lnSpc>
                <a:spcPts val="1371"/>
              </a:lnSpc>
              <a:spcBef>
                <a:spcPct val="0"/>
              </a:spcBef>
            </a:pPr>
          </a:p>
          <a:p>
            <a:pPr algn="l">
              <a:lnSpc>
                <a:spcPts val="1371"/>
              </a:lnSpc>
              <a:spcBef>
                <a:spcPct val="0"/>
              </a:spcBef>
            </a:pPr>
            <a:r>
              <a:rPr lang="en-US" sz="979">
                <a:solidFill>
                  <a:srgbClr val="000000"/>
                </a:solidFill>
                <a:latin typeface="Canva Sans"/>
                <a:ea typeface="Canva Sans"/>
                <a:cs typeface="Canva Sans"/>
                <a:sym typeface="Canva Sans"/>
              </a:rPr>
              <a:t>We accept  gcash, Maya and debit cards </a:t>
            </a:r>
          </a:p>
          <a:p>
            <a:pPr algn="l">
              <a:lnSpc>
                <a:spcPts val="1371"/>
              </a:lnSpc>
              <a:spcBef>
                <a:spcPct val="0"/>
              </a:spcBef>
            </a:pPr>
            <a:r>
              <a:rPr lang="en-US" sz="979">
                <a:solidFill>
                  <a:srgbClr val="000000"/>
                </a:solidFill>
                <a:latin typeface="Canva Sans"/>
                <a:ea typeface="Canva Sans"/>
                <a:cs typeface="Canva Sans"/>
                <a:sym typeface="Canva Sans"/>
              </a:rPr>
              <a:t>3. Cancellations &amp; Refunds</a:t>
            </a:r>
          </a:p>
          <a:p>
            <a:pPr algn="l">
              <a:lnSpc>
                <a:spcPts val="1371"/>
              </a:lnSpc>
              <a:spcBef>
                <a:spcPct val="0"/>
              </a:spcBef>
            </a:pPr>
            <a:r>
              <a:rPr lang="en-US" sz="979">
                <a:solidFill>
                  <a:srgbClr val="000000"/>
                </a:solidFill>
                <a:latin typeface="Canva Sans"/>
                <a:ea typeface="Canva Sans"/>
                <a:cs typeface="Canva Sans"/>
                <a:sym typeface="Canva Sans"/>
              </a:rPr>
              <a:t>Cancellations must be made at least [e.g., 24 hours] before delivery/pickup.</a:t>
            </a:r>
          </a:p>
          <a:p>
            <a:pPr algn="l">
              <a:lnSpc>
                <a:spcPts val="1371"/>
              </a:lnSpc>
              <a:spcBef>
                <a:spcPct val="0"/>
              </a:spcBef>
            </a:pPr>
          </a:p>
          <a:p>
            <a:pPr algn="l">
              <a:lnSpc>
                <a:spcPts val="1371"/>
              </a:lnSpc>
              <a:spcBef>
                <a:spcPct val="0"/>
              </a:spcBef>
            </a:pPr>
            <a:r>
              <a:rPr lang="en-US" sz="979">
                <a:solidFill>
                  <a:srgbClr val="000000"/>
                </a:solidFill>
                <a:latin typeface="Canva Sans"/>
                <a:ea typeface="Canva Sans"/>
                <a:cs typeface="Canva Sans"/>
                <a:sym typeface="Canva Sans"/>
              </a:rPr>
              <a:t>Custom orders may not be eligible for full refunds.</a:t>
            </a:r>
          </a:p>
          <a:p>
            <a:pPr algn="l">
              <a:lnSpc>
                <a:spcPts val="1371"/>
              </a:lnSpc>
              <a:spcBef>
                <a:spcPct val="0"/>
              </a:spcBef>
            </a:pPr>
          </a:p>
          <a:p>
            <a:pPr algn="l">
              <a:lnSpc>
                <a:spcPts val="1371"/>
              </a:lnSpc>
              <a:spcBef>
                <a:spcPct val="0"/>
              </a:spcBef>
            </a:pPr>
            <a:r>
              <a:rPr lang="en-US" sz="979">
                <a:solidFill>
                  <a:srgbClr val="000000"/>
                </a:solidFill>
                <a:latin typeface="Canva Sans"/>
                <a:ea typeface="Canva Sans"/>
                <a:cs typeface="Canva Sans"/>
                <a:sym typeface="Canva Sans"/>
              </a:rPr>
              <a:t>If we cancel due to unforeseen circumstances, a full refund will be issued.</a:t>
            </a:r>
          </a:p>
          <a:p>
            <a:pPr algn="l">
              <a:lnSpc>
                <a:spcPts val="1371"/>
              </a:lnSpc>
              <a:spcBef>
                <a:spcPct val="0"/>
              </a:spcBef>
            </a:pPr>
          </a:p>
          <a:p>
            <a:pPr algn="l">
              <a:lnSpc>
                <a:spcPts val="1371"/>
              </a:lnSpc>
              <a:spcBef>
                <a:spcPct val="0"/>
              </a:spcBef>
            </a:pPr>
            <a:r>
              <a:rPr lang="en-US" sz="979">
                <a:solidFill>
                  <a:srgbClr val="000000"/>
                </a:solidFill>
                <a:latin typeface="Canva Sans"/>
                <a:ea typeface="Canva Sans"/>
                <a:cs typeface="Canva Sans"/>
                <a:sym typeface="Canva Sans"/>
              </a:rPr>
              <a:t>4. Deliveries</a:t>
            </a:r>
          </a:p>
          <a:p>
            <a:pPr algn="l">
              <a:lnSpc>
                <a:spcPts val="1371"/>
              </a:lnSpc>
              <a:spcBef>
                <a:spcPct val="0"/>
              </a:spcBef>
            </a:pPr>
            <a:r>
              <a:rPr lang="en-US" sz="979">
                <a:solidFill>
                  <a:srgbClr val="000000"/>
                </a:solidFill>
                <a:latin typeface="Canva Sans"/>
                <a:ea typeface="Canva Sans"/>
                <a:cs typeface="Canva Sans"/>
                <a:sym typeface="Canva Sans"/>
              </a:rPr>
              <a:t>We deliver within Consolacion - Cebi City</a:t>
            </a:r>
          </a:p>
          <a:p>
            <a:pPr algn="l">
              <a:lnSpc>
                <a:spcPts val="1371"/>
              </a:lnSpc>
              <a:spcBef>
                <a:spcPct val="0"/>
              </a:spcBef>
            </a:pPr>
          </a:p>
          <a:p>
            <a:pPr algn="l">
              <a:lnSpc>
                <a:spcPts val="1371"/>
              </a:lnSpc>
              <a:spcBef>
                <a:spcPct val="0"/>
              </a:spcBef>
            </a:pPr>
            <a:r>
              <a:rPr lang="en-US" sz="979">
                <a:solidFill>
                  <a:srgbClr val="000000"/>
                </a:solidFill>
                <a:latin typeface="Canva Sans"/>
                <a:ea typeface="Canva Sans"/>
                <a:cs typeface="Canva Sans"/>
                <a:sym typeface="Canva Sans"/>
              </a:rPr>
              <a:t>Customers must provide accurate delivery details.</a:t>
            </a:r>
          </a:p>
          <a:p>
            <a:pPr algn="l">
              <a:lnSpc>
                <a:spcPts val="1371"/>
              </a:lnSpc>
              <a:spcBef>
                <a:spcPct val="0"/>
              </a:spcBef>
            </a:pPr>
          </a:p>
          <a:p>
            <a:pPr algn="l">
              <a:lnSpc>
                <a:spcPts val="1371"/>
              </a:lnSpc>
              <a:spcBef>
                <a:spcPct val="0"/>
              </a:spcBef>
            </a:pPr>
            <a:r>
              <a:rPr lang="en-US" sz="979">
                <a:solidFill>
                  <a:srgbClr val="000000"/>
                </a:solidFill>
                <a:latin typeface="Canva Sans"/>
                <a:ea typeface="Canva Sans"/>
                <a:cs typeface="Canva Sans"/>
                <a:sym typeface="Canva Sans"/>
              </a:rPr>
              <a:t>We are not liable for delivery delays due to incorrect information or external factors.</a:t>
            </a:r>
          </a:p>
          <a:p>
            <a:pPr algn="l">
              <a:lnSpc>
                <a:spcPts val="1371"/>
              </a:lnSpc>
              <a:spcBef>
                <a:spcPct val="0"/>
              </a:spcBef>
            </a:pPr>
          </a:p>
          <a:p>
            <a:pPr algn="l">
              <a:lnSpc>
                <a:spcPts val="1371"/>
              </a:lnSpc>
              <a:spcBef>
                <a:spcPct val="0"/>
              </a:spcBef>
            </a:pPr>
            <a:r>
              <a:rPr lang="en-US" sz="979">
                <a:solidFill>
                  <a:srgbClr val="000000"/>
                </a:solidFill>
                <a:latin typeface="Canva Sans"/>
                <a:ea typeface="Canva Sans"/>
                <a:cs typeface="Canva Sans"/>
                <a:sym typeface="Canva Sans"/>
              </a:rPr>
              <a:t>5. Intellectual Property</a:t>
            </a:r>
          </a:p>
          <a:p>
            <a:pPr algn="l">
              <a:lnSpc>
                <a:spcPts val="1371"/>
              </a:lnSpc>
              <a:spcBef>
                <a:spcPct val="0"/>
              </a:spcBef>
            </a:pPr>
            <a:r>
              <a:rPr lang="en-US" sz="979">
                <a:solidFill>
                  <a:srgbClr val="000000"/>
                </a:solidFill>
                <a:latin typeface="Canva Sans"/>
                <a:ea typeface="Canva Sans"/>
                <a:cs typeface="Canva Sans"/>
                <a:sym typeface="Canva Sans"/>
              </a:rPr>
              <a:t>All content on this site (images, logos, designs) belongs to Joyful Rose Delights and may not be reused without permission.</a:t>
            </a:r>
          </a:p>
          <a:p>
            <a:pPr algn="l">
              <a:lnSpc>
                <a:spcPts val="1371"/>
              </a:lnSpc>
              <a:spcBef>
                <a:spcPct val="0"/>
              </a:spcBef>
            </a:pPr>
          </a:p>
          <a:p>
            <a:pPr algn="l">
              <a:lnSpc>
                <a:spcPts val="1371"/>
              </a:lnSpc>
              <a:spcBef>
                <a:spcPct val="0"/>
              </a:spcBef>
            </a:pPr>
            <a:r>
              <a:rPr lang="en-US" sz="979">
                <a:solidFill>
                  <a:srgbClr val="000000"/>
                </a:solidFill>
                <a:latin typeface="Canva Sans"/>
                <a:ea typeface="Canva Sans"/>
                <a:cs typeface="Canva Sans"/>
                <a:sym typeface="Canva Sans"/>
              </a:rPr>
              <a:t>6. Changes to Terms</a:t>
            </a:r>
          </a:p>
          <a:p>
            <a:pPr algn="ctr">
              <a:lnSpc>
                <a:spcPts val="1371"/>
              </a:lnSpc>
              <a:spcBef>
                <a:spcPct val="0"/>
              </a:spcBef>
            </a:pPr>
            <a:r>
              <a:rPr lang="en-US" sz="979">
                <a:solidFill>
                  <a:srgbClr val="000000"/>
                </a:solidFill>
                <a:latin typeface="Canva Sans"/>
                <a:ea typeface="Canva Sans"/>
                <a:cs typeface="Canva Sans"/>
                <a:sym typeface="Canva Sans"/>
              </a:rPr>
              <a:t>We reserve the right to update these terms. Changes will be posted on this page with the updated date.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DAGmHvPqOpo</dc:identifier>
  <dcterms:modified xsi:type="dcterms:W3CDTF">2011-08-01T06:04:30Z</dcterms:modified>
  <cp:revision>1</cp:revision>
  <dc:title>JOYFULROSEDELIGHTS.pptx</dc:title>
</cp:coreProperties>
</file>